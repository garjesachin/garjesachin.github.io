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GenAI spend (in $B)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2030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7-41C9-BE09-672AC03CF4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25953647"/>
        <c:axId val="1025954607"/>
      </c:barChart>
      <c:catAx>
        <c:axId val="102595364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954607"/>
        <c:crosses val="autoZero"/>
        <c:auto val="1"/>
        <c:lblAlgn val="ctr"/>
        <c:lblOffset val="100"/>
        <c:noMultiLvlLbl val="0"/>
      </c:catAx>
      <c:valAx>
        <c:axId val="102595460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259536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F13F-5C54-1789-44FA-2D29C2FA2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C21CE-7CB8-492D-0747-AFA91905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F2B5F-A28B-0C09-F0E6-A024B56D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2A5C4-744F-13D1-DBD9-79DF2EA8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4B01-7E73-13AA-B445-B16D69E0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56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7D33-C2A7-4F6B-4433-CF5CAEC4B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750EB-F49E-633B-962C-119E74AA5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5A88-1CE2-926B-7B7B-32A3E09F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5527B-E256-5BBF-2F11-70C8FFAB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C1AB5-32A6-2AD8-41FA-5CC1DC58E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53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93CC-E184-D990-DE21-6871DB11E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3A738-ABBE-B381-65D6-B4EB3E3B3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D91F5-7816-F54F-B054-7AC37C57A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04972-E097-5548-57A6-B9FE54CBC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1739A-5528-90E3-B8BB-F448382C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03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D287-DD39-4113-E08E-532009010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881DE-9D00-AA91-2BFF-4F24D6A18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FEFA3-FF77-7745-8E5B-3D8F5E430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BCC2B-2C63-E3B8-5233-41F25777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7AEDB-8F52-C86D-CDBB-DDA8A5D6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9E75-42C6-5C58-16E1-5B82670D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555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A11F-B838-68A9-2456-076B8E8D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AA025-450E-0FD8-76D5-75A8BE053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C615A-2E04-DE0F-B519-CFDDEE406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044F9-A101-6974-71C0-FC73AFD05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30A272-4D39-216D-6B78-A2E0369A0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65866-99FE-8A36-0115-FD32C38FD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83AD5-CBC1-C279-18F3-8D9B0FD0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19899-4944-2741-EA98-6AA0DE7D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5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3BE96-970F-D43B-5B00-93F2BA41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DCC07-DB03-29CC-D6B0-BFD955D18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1CB32-B500-4727-5AF7-0089452C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412B2-1335-0740-03E4-CB6AA33A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159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3470C-4294-9DAE-267F-A6A0428B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8BD5DB-79FA-4FDF-E03A-DA2E9D551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D1FE4-2357-372D-D74D-598593A0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12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FD47-F119-13C6-1790-38709AD9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798D-6114-1B6E-6E54-FC737DEDB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3DFD6-B117-05EB-777A-442397453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C01A-0E13-E0C9-B86E-6994C2F4D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7DAD2-DCB9-543C-88F8-AEC2BB58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14627-DF03-FEAE-9A4D-D4B6DFDC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26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4C57-2C35-A16B-9107-DABF9A26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A70113-87E6-A86D-2BD2-5D267A8A04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5F592-3DBB-F8FE-A477-C1BF142DF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AC4DE-A04A-5D00-421F-98640DA8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7E8DE-7EC2-17AB-C730-2CF16477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29BE1-FB62-57F4-EE7F-5999B538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98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0686A-D907-A3EA-7C75-154ED33DB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A4A40-EF39-140A-5761-45239A2E2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DE776-18E2-C649-8FB9-5AF9890B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A208D-7899-828D-68FE-18A2A0E0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F3D36-0626-E04D-4246-90F51F61C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93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D6D20-CE30-400E-2733-E06753407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F22F1-386D-FE7E-3A4D-2F9414962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08605-FFE3-7BFC-EFAA-BE133DF6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C1214-CBC8-D63E-D513-0921D6DC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02CA0-FDC4-C0CF-D12B-3E996886C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1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C5F003-402F-7167-59F6-C4BC8D0AF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399B8-19F9-E198-D42E-CB5FB2AEE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AA0DF-8393-43CE-661C-55664999C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065E0-8535-5F87-5804-6B63BA107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AB076-358E-D28F-AD15-3FF3A6E94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73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kpmg.com/us/en/articles/2024/2024-us-banking-industry-outlook-survey.html" TargetMode="External"/><Relationship Id="rId3" Type="http://schemas.openxmlformats.org/officeDocument/2006/relationships/hyperlink" Target="https://www.juniperresearch.com/press/generative-ai-spending-from-banking-industry-to-grow-by-over-1-400-by-2030-as-banks-seek-to-scale-ai-to-revolutionise-business-models/" TargetMode="External"/><Relationship Id="rId7" Type="http://schemas.openxmlformats.org/officeDocument/2006/relationships/hyperlink" Target="https://www.ey.com/en_us/insights/banking-capital-markets/ai-in-banking-ey-parthenon-genai-survey-insights" TargetMode="External"/><Relationship Id="rId12" Type="http://schemas.openxmlformats.org/officeDocument/2006/relationships/image" Target="../media/image3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eb-assets.bcg.com/7d/91/7f9d246e4abbafb9c2a3dc74e8ee/accelerating-the-path-from-genai-potential-to-profit-in-banking.pdf" TargetMode="External"/><Relationship Id="rId11" Type="http://schemas.openxmlformats.org/officeDocument/2006/relationships/image" Target="../media/image2.svg"/><Relationship Id="rId5" Type="http://schemas.openxmlformats.org/officeDocument/2006/relationships/hyperlink" Target="https://newsroom.ibm.com/2024-06-05-IBM-Study-Banking-and-Financial-Markets-CEOs-are-betting-on-generative-AI-to-stay-competitive,-yet-workforce-and-culture-challenges-persist" TargetMode="External"/><Relationship Id="rId10" Type="http://schemas.openxmlformats.org/officeDocument/2006/relationships/image" Target="../media/image1.svg"/><Relationship Id="rId4" Type="http://schemas.openxmlformats.org/officeDocument/2006/relationships/hyperlink" Target="https://www.mckinsey.com/industries/financial-services/our-insights/capturing-the-full-value-of-generative-ai-in-banking" TargetMode="External"/><Relationship Id="rId9" Type="http://schemas.openxmlformats.org/officeDocument/2006/relationships/hyperlink" Target="https://www.accenture.com/us-en/insights/banking/accenture-banking-trends-2026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-assets.bcg.com/7d/91/7f9d246e4abbafb9c2a3dc74e8ee/accelerating-the-path-from-genai-potential-to-profit-in-banking.pdf" TargetMode="External"/><Relationship Id="rId7" Type="http://schemas.openxmlformats.org/officeDocument/2006/relationships/image" Target="../media/image4.svg"/><Relationship Id="rId2" Type="http://schemas.openxmlformats.org/officeDocument/2006/relationships/hyperlink" Target="https://newsroom.ibm.com/2024-06-05-IBM-Study-Banking-and-Financial-Markets-CEOs-are-betting-on-generative-AI-to-stay-competitive,-yet-workforce-and-culture-challenges-persis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ccenture.com/us-en/insights/banking/accenture-banking-trends-2026" TargetMode="External"/><Relationship Id="rId5" Type="http://schemas.openxmlformats.org/officeDocument/2006/relationships/hyperlink" Target="https://kpmg.com/us/en/articles/2024/2024-us-banking-industry-outlook-survey.html" TargetMode="External"/><Relationship Id="rId4" Type="http://schemas.openxmlformats.org/officeDocument/2006/relationships/hyperlink" Target="https://www.ey.com/en_us/insights/banking-capital-markets/ai-in-banking-ey-parthenon-genai-survey-insight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nalyticsindiamag.com/global-tech/how-commonwealth-bank-of-australia-built-a-genai-chatbot-in-just-6-weeks" TargetMode="External"/><Relationship Id="rId7" Type="http://schemas.openxmlformats.org/officeDocument/2006/relationships/image" Target="../media/image7.png"/><Relationship Id="rId2" Type="http://schemas.openxmlformats.org/officeDocument/2006/relationships/hyperlink" Target="https://openai.com/index/morgan-stanley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ai.icai.org/articles_details.php?id=6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ot-analytics.com/leading-generative-ai-companies/" TargetMode="External"/><Relationship Id="rId2" Type="http://schemas.openxmlformats.org/officeDocument/2006/relationships/hyperlink" Target="https://dtskill.com/blog/top-generative-ai-service-provider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4AE5A8-75B4-3CBF-B019-37867559F30E}"/>
              </a:ext>
            </a:extLst>
          </p:cNvPr>
          <p:cNvSpPr/>
          <p:nvPr/>
        </p:nvSpPr>
        <p:spPr>
          <a:xfrm>
            <a:off x="344424" y="1168400"/>
            <a:ext cx="3761232" cy="49946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DB98D-CACB-3CC2-45E3-8481026D4894}"/>
              </a:ext>
            </a:extLst>
          </p:cNvPr>
          <p:cNvSpPr txBox="1"/>
          <p:nvPr/>
        </p:nvSpPr>
        <p:spPr>
          <a:xfrm>
            <a:off x="344424" y="219456"/>
            <a:ext cx="11503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GenAI has moved from IT agenda to board mandate — Banking CIOs are now accountable for delivering ROI, not just running pilots</a:t>
            </a:r>
            <a:endParaRPr lang="en-IN" sz="2000" b="1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0931B8E-0769-A9B5-845C-2460CA0C70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1962712"/>
              </p:ext>
            </p:extLst>
          </p:nvPr>
        </p:nvGraphicFramePr>
        <p:xfrm>
          <a:off x="701040" y="1596030"/>
          <a:ext cx="3048000" cy="1410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F82F0E3-8761-AD5C-A447-B7D6E437EBA1}"/>
              </a:ext>
            </a:extLst>
          </p:cNvPr>
          <p:cNvSpPr txBox="1"/>
          <p:nvPr/>
        </p:nvSpPr>
        <p:spPr>
          <a:xfrm>
            <a:off x="344424" y="6400799"/>
            <a:ext cx="11241024" cy="246221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Juniper Research</a:t>
            </a:r>
            <a:r>
              <a:rPr lang="en-US" sz="1000" i="1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McKinsey</a:t>
            </a:r>
            <a:r>
              <a:rPr lang="en-US" sz="1000" i="1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IBM Study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6"/>
              </a:rPr>
              <a:t>BCG-Google Report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7"/>
              </a:rPr>
              <a:t>EY-Parthenon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8"/>
              </a:rPr>
              <a:t>KPMG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9"/>
              </a:rPr>
              <a:t>Accenture Report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B5AB0E-6575-93A7-257D-B728976DE0AD}"/>
              </a:ext>
            </a:extLst>
          </p:cNvPr>
          <p:cNvSpPr/>
          <p:nvPr/>
        </p:nvSpPr>
        <p:spPr>
          <a:xfrm>
            <a:off x="4429317" y="1168400"/>
            <a:ext cx="2257200" cy="17007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BE8E14-BDCC-EFA6-EA79-42B48A18036B}"/>
              </a:ext>
            </a:extLst>
          </p:cNvPr>
          <p:cNvSpPr/>
          <p:nvPr/>
        </p:nvSpPr>
        <p:spPr>
          <a:xfrm>
            <a:off x="7010178" y="1168400"/>
            <a:ext cx="2257200" cy="17007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5484CD-ABF1-B5FF-0BBC-C4180E21BEF5}"/>
              </a:ext>
            </a:extLst>
          </p:cNvPr>
          <p:cNvSpPr/>
          <p:nvPr/>
        </p:nvSpPr>
        <p:spPr>
          <a:xfrm>
            <a:off x="9591040" y="1168400"/>
            <a:ext cx="2257200" cy="17007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0DF156-AEA0-839A-6DC1-8F7CB1E5BD9A}"/>
              </a:ext>
            </a:extLst>
          </p:cNvPr>
          <p:cNvSpPr/>
          <p:nvPr/>
        </p:nvSpPr>
        <p:spPr>
          <a:xfrm>
            <a:off x="4429317" y="3294948"/>
            <a:ext cx="7418259" cy="28681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E885F5-F16D-BF42-1172-44CE6E6E466B}"/>
              </a:ext>
            </a:extLst>
          </p:cNvPr>
          <p:cNvSpPr txBox="1"/>
          <p:nvPr/>
        </p:nvSpPr>
        <p:spPr>
          <a:xfrm>
            <a:off x="731040" y="1034287"/>
            <a:ext cx="2988000" cy="355402"/>
          </a:xfrm>
          <a:prstGeom prst="roundRect">
            <a:avLst>
              <a:gd name="adj" fmla="val 23297"/>
            </a:avLst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Spend on GenAI by Banks ($bn)</a:t>
            </a:r>
            <a:r>
              <a:rPr lang="en-US" sz="1400" b="1" baseline="30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en-IN" sz="1400" b="1" baseline="30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F52E4D-A23A-00B2-0A58-0B5F0C844825}"/>
              </a:ext>
            </a:extLst>
          </p:cNvPr>
          <p:cNvCxnSpPr>
            <a:cxnSpLocks/>
          </p:cNvCxnSpPr>
          <p:nvPr/>
        </p:nvCxnSpPr>
        <p:spPr>
          <a:xfrm flipV="1">
            <a:off x="1635760" y="1722456"/>
            <a:ext cx="1014912" cy="54322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2D612F0-3467-F885-9B7C-2405CD4095D1}"/>
              </a:ext>
            </a:extLst>
          </p:cNvPr>
          <p:cNvSpPr txBox="1"/>
          <p:nvPr/>
        </p:nvSpPr>
        <p:spPr>
          <a:xfrm rot="19975693">
            <a:off x="1557969" y="1761509"/>
            <a:ext cx="998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CAGR: 55.6%</a:t>
            </a:r>
            <a:endParaRPr lang="en-IN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CDE757-EC8B-6877-A2E5-354E4EA9E723}"/>
              </a:ext>
            </a:extLst>
          </p:cNvPr>
          <p:cNvSpPr txBox="1"/>
          <p:nvPr/>
        </p:nvSpPr>
        <p:spPr>
          <a:xfrm>
            <a:off x="447040" y="3205480"/>
            <a:ext cx="3535680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GenAI in banking market is experiencing rapid expansion, with estimates indicating a rise from $6bn in 2024, to a projected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$85.7bn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by 2030</a:t>
            </a:r>
            <a:r>
              <a:rPr lang="en-US" sz="12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As per McKinsey estimates</a:t>
            </a:r>
            <a:r>
              <a:rPr lang="en-US" sz="12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</a:p>
          <a:p>
            <a:pPr marL="628650" lvl="1" indent="-1714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GenAI has the potential to revolutionize banking industry for an additional value of $200bn to $340bn annually (equivalent to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9% to 15%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of operating profits)</a:t>
            </a:r>
          </a:p>
          <a:p>
            <a:pPr marL="628650" lvl="1" indent="-1714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The benefit is expected to be for all banking segments and functions, with the largest gains in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corporate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($56bn) and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retail segments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($54bn)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3B0828-A894-3C86-7FB7-DA43A31406FF}"/>
              </a:ext>
            </a:extLst>
          </p:cNvPr>
          <p:cNvSpPr txBox="1"/>
          <p:nvPr/>
        </p:nvSpPr>
        <p:spPr>
          <a:xfrm>
            <a:off x="5073462" y="1262409"/>
            <a:ext cx="15975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60%</a:t>
            </a:r>
            <a:r>
              <a:rPr lang="en-US" sz="1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CEOs are pushing for AI adoption faster than some might find comfortable</a:t>
            </a:r>
          </a:p>
          <a:p>
            <a:pPr algn="r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IBM Study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88ACE-0A30-F845-1C05-2D4642B9E4DC}"/>
              </a:ext>
            </a:extLst>
          </p:cNvPr>
          <p:cNvSpPr txBox="1"/>
          <p:nvPr/>
        </p:nvSpPr>
        <p:spPr>
          <a:xfrm>
            <a:off x="10241280" y="1262409"/>
            <a:ext cx="1548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61% 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report substantial impacts from deployments and 89% expect major benefits within 2 years.</a:t>
            </a:r>
          </a:p>
          <a:p>
            <a:pPr algn="r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EY Parthenon’25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F13B9B-CEF2-88AA-9D54-F9CE9E20CD03}"/>
              </a:ext>
            </a:extLst>
          </p:cNvPr>
          <p:cNvSpPr txBox="1"/>
          <p:nvPr/>
        </p:nvSpPr>
        <p:spPr>
          <a:xfrm>
            <a:off x="7779004" y="1262409"/>
            <a:ext cx="1412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75%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ranked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AI and GenAI among their top three strategic priorities for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the year ahead</a:t>
            </a:r>
          </a:p>
          <a:p>
            <a:pPr algn="r"/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- BCG Report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5" name="Graphic 24" descr="Business Growth with solid fill">
            <a:extLst>
              <a:ext uri="{FF2B5EF4-FFF2-40B4-BE49-F238E27FC236}">
                <a16:creationId xmlns:a16="http://schemas.microsoft.com/office/drawing/2014/main" id="{D88E47B7-4B0A-B9EC-C4AC-7AB13B237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29804" y="1363305"/>
            <a:ext cx="648000" cy="648000"/>
          </a:xfrm>
          <a:prstGeom prst="rect">
            <a:avLst/>
          </a:prstGeom>
        </p:spPr>
      </p:pic>
      <p:pic>
        <p:nvPicPr>
          <p:cNvPr id="27" name="Graphic 26" descr="Person with idea with solid fill">
            <a:extLst>
              <a:ext uri="{FF2B5EF4-FFF2-40B4-BE49-F238E27FC236}">
                <a16:creationId xmlns:a16="http://schemas.microsoft.com/office/drawing/2014/main" id="{2BF49B94-A401-697F-580E-B41EE778AB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47788" y="1363305"/>
            <a:ext cx="648000" cy="648000"/>
          </a:xfrm>
          <a:prstGeom prst="rect">
            <a:avLst/>
          </a:prstGeom>
        </p:spPr>
      </p:pic>
      <p:pic>
        <p:nvPicPr>
          <p:cNvPr id="29" name="Graphic 28" descr="Rocket with solid fill">
            <a:extLst>
              <a:ext uri="{FF2B5EF4-FFF2-40B4-BE49-F238E27FC236}">
                <a16:creationId xmlns:a16="http://schemas.microsoft.com/office/drawing/2014/main" id="{A8B9402E-A741-6502-E6F4-EDDDA9128A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49151" y="1363305"/>
            <a:ext cx="648000" cy="648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611E40B-E6C8-A435-3BFB-DE8D33BE29B1}"/>
              </a:ext>
            </a:extLst>
          </p:cNvPr>
          <p:cNvSpPr txBox="1"/>
          <p:nvPr/>
        </p:nvSpPr>
        <p:spPr>
          <a:xfrm>
            <a:off x="6845586" y="3159222"/>
            <a:ext cx="2585720" cy="355402"/>
          </a:xfrm>
          <a:prstGeom prst="roundRect">
            <a:avLst>
              <a:gd name="adj" fmla="val 23297"/>
            </a:avLst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 Priorities for CIOs </a:t>
            </a:r>
            <a:endParaRPr lang="en-IN" sz="1400" b="1" baseline="30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34997E-032D-B8A7-DB08-09DEE9883045}"/>
              </a:ext>
            </a:extLst>
          </p:cNvPr>
          <p:cNvSpPr txBox="1"/>
          <p:nvPr/>
        </p:nvSpPr>
        <p:spPr>
          <a:xfrm>
            <a:off x="4646962" y="3661934"/>
            <a:ext cx="69829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Driving Bottom-Line ROI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Shifting from experimentation to scaling use cases that deliver measurable profit and structural cost savings.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Workforce Adaptation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Reskilling employees and managing the cultural shift as GenAI redefines roles and daily banking operations.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Data Security &amp; Privacy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Building secure frameworks to protect proprietary banking data and prevent leaks when using large language models.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Architectural Modernization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Updating legacy data estates and moving toward modular, AI-ready "agentic" technology architectures.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Governance &amp; Compliance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Establishing strict oversight to manage AI bias, hallucinations, and evolving regulatory requirements.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54B858-3382-8AA5-D3AA-A0E0BEEC4E6D}"/>
              </a:ext>
            </a:extLst>
          </p:cNvPr>
          <p:cNvSpPr txBox="1"/>
          <p:nvPr/>
        </p:nvSpPr>
        <p:spPr>
          <a:xfrm>
            <a:off x="10965452" y="6638544"/>
            <a:ext cx="12265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i="1" dirty="0">
                <a:latin typeface="Segoe UI" panose="020B0502040204020203" pitchFamily="34" charset="0"/>
                <a:cs typeface="Segoe UI" panose="020B0502040204020203" pitchFamily="34" charset="0"/>
              </a:rPr>
              <a:t>Created by: Sachin Garje</a:t>
            </a:r>
            <a:endParaRPr lang="en-IN" sz="7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162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FF7DC9-B890-5EB6-FC0F-2A2673E1F50D}"/>
              </a:ext>
            </a:extLst>
          </p:cNvPr>
          <p:cNvSpPr txBox="1"/>
          <p:nvPr/>
        </p:nvSpPr>
        <p:spPr>
          <a:xfrm>
            <a:off x="344424" y="6400799"/>
            <a:ext cx="11241024" cy="246221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IBM Study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BCG-Google Report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EY-Parthenon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KPMG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6"/>
              </a:rPr>
              <a:t>Accenture Report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1C39A3-F4F7-5DDA-236E-A2A241B36002}"/>
              </a:ext>
            </a:extLst>
          </p:cNvPr>
          <p:cNvSpPr txBox="1"/>
          <p:nvPr/>
        </p:nvSpPr>
        <p:spPr>
          <a:xfrm>
            <a:off x="344424" y="219456"/>
            <a:ext cx="11503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Competitive survival is driving urgency, but legacy infrastructure and a pilot-to-production gap are slowing the industry down</a:t>
            </a:r>
            <a:endParaRPr lang="en-IN" dirty="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FF917622-310C-9745-4652-FA88A13ADEEF}"/>
              </a:ext>
            </a:extLst>
          </p:cNvPr>
          <p:cNvSpPr/>
          <p:nvPr/>
        </p:nvSpPr>
        <p:spPr>
          <a:xfrm>
            <a:off x="344424" y="1168400"/>
            <a:ext cx="4892040" cy="495808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Drivers of GenAI Demand</a:t>
            </a:r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B1E2B1AB-59D1-B5A1-D97C-8F43D596D2DB}"/>
              </a:ext>
            </a:extLst>
          </p:cNvPr>
          <p:cNvSpPr/>
          <p:nvPr/>
        </p:nvSpPr>
        <p:spPr>
          <a:xfrm flipH="1">
            <a:off x="6956200" y="1168400"/>
            <a:ext cx="4892040" cy="4968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Challenges Holding Back Adoption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E2DD37-E997-3868-B443-5D9505E3F827}"/>
              </a:ext>
            </a:extLst>
          </p:cNvPr>
          <p:cNvSpPr/>
          <p:nvPr/>
        </p:nvSpPr>
        <p:spPr>
          <a:xfrm>
            <a:off x="393264" y="2028377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01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8BD213F-0AE7-F0AD-8AD4-A7DA5788A943}"/>
              </a:ext>
            </a:extLst>
          </p:cNvPr>
          <p:cNvSpPr/>
          <p:nvPr/>
        </p:nvSpPr>
        <p:spPr>
          <a:xfrm>
            <a:off x="393264" y="2910431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02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FCB0D2-BBC6-62D3-5BA0-F5C88EE912F4}"/>
              </a:ext>
            </a:extLst>
          </p:cNvPr>
          <p:cNvSpPr/>
          <p:nvPr/>
        </p:nvSpPr>
        <p:spPr>
          <a:xfrm>
            <a:off x="393264" y="3792485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03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18D1DE-A51E-3EBB-0AC3-BA4719DA8106}"/>
              </a:ext>
            </a:extLst>
          </p:cNvPr>
          <p:cNvSpPr/>
          <p:nvPr/>
        </p:nvSpPr>
        <p:spPr>
          <a:xfrm>
            <a:off x="393264" y="4674539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04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B29E23-1370-9381-6DFB-3E1DBECE09F3}"/>
              </a:ext>
            </a:extLst>
          </p:cNvPr>
          <p:cNvSpPr/>
          <p:nvPr/>
        </p:nvSpPr>
        <p:spPr>
          <a:xfrm>
            <a:off x="393264" y="5556593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05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E47E20-AE5C-F797-5747-88154143D3E0}"/>
              </a:ext>
            </a:extLst>
          </p:cNvPr>
          <p:cNvSpPr/>
          <p:nvPr/>
        </p:nvSpPr>
        <p:spPr>
          <a:xfrm>
            <a:off x="11033160" y="2028377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01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20D1878-EF06-4DB3-12CE-CFBDF725BFA1}"/>
              </a:ext>
            </a:extLst>
          </p:cNvPr>
          <p:cNvSpPr/>
          <p:nvPr/>
        </p:nvSpPr>
        <p:spPr>
          <a:xfrm>
            <a:off x="11033160" y="2910431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02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52C5FCA-326A-95A4-8B84-691283311188}"/>
              </a:ext>
            </a:extLst>
          </p:cNvPr>
          <p:cNvSpPr/>
          <p:nvPr/>
        </p:nvSpPr>
        <p:spPr>
          <a:xfrm>
            <a:off x="11033160" y="3792485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03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CA83824-15AB-7781-DC75-B508572638B3}"/>
              </a:ext>
            </a:extLst>
          </p:cNvPr>
          <p:cNvSpPr/>
          <p:nvPr/>
        </p:nvSpPr>
        <p:spPr>
          <a:xfrm>
            <a:off x="11033160" y="4674539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04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B37D12E-FD38-68CC-0C24-3E276C34ACC3}"/>
              </a:ext>
            </a:extLst>
          </p:cNvPr>
          <p:cNvSpPr/>
          <p:nvPr/>
        </p:nvSpPr>
        <p:spPr>
          <a:xfrm>
            <a:off x="11033160" y="5556593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05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A997377-CE3A-BC26-1194-4107E656CBDE}"/>
              </a:ext>
            </a:extLst>
          </p:cNvPr>
          <p:cNvCxnSpPr>
            <a:cxnSpLocks/>
          </p:cNvCxnSpPr>
          <p:nvPr/>
        </p:nvCxnSpPr>
        <p:spPr>
          <a:xfrm>
            <a:off x="694944" y="1664208"/>
            <a:ext cx="0" cy="400507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75C77B-53CF-9A26-FB81-2618763F23CB}"/>
              </a:ext>
            </a:extLst>
          </p:cNvPr>
          <p:cNvCxnSpPr>
            <a:cxnSpLocks/>
          </p:cNvCxnSpPr>
          <p:nvPr/>
        </p:nvCxnSpPr>
        <p:spPr>
          <a:xfrm>
            <a:off x="11342624" y="1664208"/>
            <a:ext cx="0" cy="400507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13F6D78-1EAD-8176-BBB0-7C9F76BA5EB3}"/>
              </a:ext>
            </a:extLst>
          </p:cNvPr>
          <p:cNvSpPr txBox="1"/>
          <p:nvPr/>
        </p:nvSpPr>
        <p:spPr>
          <a:xfrm>
            <a:off x="1194816" y="1982657"/>
            <a:ext cx="382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Competitive Urgency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71% of CEOs believe that those with the most advanced GenAI will have a significant competitive advantage.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E69464-6F9C-41E8-43D7-BB5567E265DB}"/>
              </a:ext>
            </a:extLst>
          </p:cNvPr>
          <p:cNvSpPr txBox="1"/>
          <p:nvPr/>
        </p:nvSpPr>
        <p:spPr>
          <a:xfrm>
            <a:off x="1194816" y="2871950"/>
            <a:ext cx="382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Structural Cost Reduction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CIOs are targeting deep cost-to-serve improvements by moving beyond simple productivity to "10x" efficiency in operations.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F958C0-7FF1-3167-EE50-52D5BE5C207A}"/>
              </a:ext>
            </a:extLst>
          </p:cNvPr>
          <p:cNvSpPr txBox="1"/>
          <p:nvPr/>
        </p:nvSpPr>
        <p:spPr>
          <a:xfrm>
            <a:off x="1194816" y="3761243"/>
            <a:ext cx="382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Path to Profitability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Banks are prioritizing GenAI to move from "potential" to "profit" by identifying and scaling high-value use cases quickly.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680D2D-5470-7017-A900-0C63D3EAE760}"/>
              </a:ext>
            </a:extLst>
          </p:cNvPr>
          <p:cNvSpPr txBox="1"/>
          <p:nvPr/>
        </p:nvSpPr>
        <p:spPr>
          <a:xfrm>
            <a:off x="1194816" y="4650536"/>
            <a:ext cx="382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Revenue Growth through Personalization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Demand is driven by the shift toward "Intent Engines" that create deeper, conversational customer relationships.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A5E8DC-2BA7-B121-C6F9-56A1B3374B0C}"/>
              </a:ext>
            </a:extLst>
          </p:cNvPr>
          <p:cNvSpPr txBox="1"/>
          <p:nvPr/>
        </p:nvSpPr>
        <p:spPr>
          <a:xfrm>
            <a:off x="1194816" y="5539830"/>
            <a:ext cx="382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Operational Modernization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The need to automate complex internal processes like legacy code refactoring and risk assessment is a key driver.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FF4324-8019-EBF3-0699-7DCEF6AA0A7B}"/>
              </a:ext>
            </a:extLst>
          </p:cNvPr>
          <p:cNvSpPr txBox="1"/>
          <p:nvPr/>
        </p:nvSpPr>
        <p:spPr>
          <a:xfrm>
            <a:off x="7011417" y="2028377"/>
            <a:ext cx="382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Workforce &amp; Skill Gaps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46% of CEOs cite the need for new specialized skills and a lack of AI fluency as the top barrier to adoption.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97368A-EE94-F7EB-43B2-35758F238D5A}"/>
              </a:ext>
            </a:extLst>
          </p:cNvPr>
          <p:cNvSpPr txBox="1"/>
          <p:nvPr/>
        </p:nvSpPr>
        <p:spPr>
          <a:xfrm>
            <a:off x="7011417" y="2917670"/>
            <a:ext cx="382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Data Security &amp; Privacy Concerns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The risk of proprietary data leakage and maintaining customer confidentiality remains a primary hurdle.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279D0D-0B9D-E1EC-8C7F-7304F1BC9431}"/>
              </a:ext>
            </a:extLst>
          </p:cNvPr>
          <p:cNvSpPr txBox="1"/>
          <p:nvPr/>
        </p:nvSpPr>
        <p:spPr>
          <a:xfrm>
            <a:off x="7011417" y="3806963"/>
            <a:ext cx="382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Legacy Infrastructure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Fragmented data estates and outdated monolithic technology architectures make it difficult to scale GenAI enterprise-wide.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4AF5AD-F08B-7D58-EEFF-ABD2BC64D644}"/>
              </a:ext>
            </a:extLst>
          </p:cNvPr>
          <p:cNvSpPr txBox="1"/>
          <p:nvPr/>
        </p:nvSpPr>
        <p:spPr>
          <a:xfrm>
            <a:off x="7011417" y="4696256"/>
            <a:ext cx="382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Regulatory &amp; Ethical Risks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Concerns regarding "hallucinations," bias, and the inability to explain AI-driven decisions to regulators slow deployment.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58C8BF-002B-9494-BF6D-AB9038AC87B5}"/>
              </a:ext>
            </a:extLst>
          </p:cNvPr>
          <p:cNvSpPr txBox="1"/>
          <p:nvPr/>
        </p:nvSpPr>
        <p:spPr>
          <a:xfrm>
            <a:off x="7011417" y="5585550"/>
            <a:ext cx="382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Implementation "Pilot Trap"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: Many banks struggle to move beyond localized pilots into a governed, industrialized production environment.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1" name="Graphic 40" descr="Lightbulb and gear with solid fill">
            <a:extLst>
              <a:ext uri="{FF2B5EF4-FFF2-40B4-BE49-F238E27FC236}">
                <a16:creationId xmlns:a16="http://schemas.microsoft.com/office/drawing/2014/main" id="{89C1BB82-BCBC-300B-EF1B-2D991751F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1067816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A057F8-0724-95C0-DA89-349429E7FA29}"/>
              </a:ext>
            </a:extLst>
          </p:cNvPr>
          <p:cNvSpPr txBox="1"/>
          <p:nvPr/>
        </p:nvSpPr>
        <p:spPr>
          <a:xfrm>
            <a:off x="10965452" y="6638544"/>
            <a:ext cx="12265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i="1" dirty="0">
                <a:latin typeface="Segoe UI" panose="020B0502040204020203" pitchFamily="34" charset="0"/>
                <a:cs typeface="Segoe UI" panose="020B0502040204020203" pitchFamily="34" charset="0"/>
              </a:rPr>
              <a:t>Created by: Sachin Garje</a:t>
            </a:r>
            <a:endParaRPr lang="en-IN" sz="7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21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909994-CBCA-242D-6095-D1F9C1F3F8EC}"/>
              </a:ext>
            </a:extLst>
          </p:cNvPr>
          <p:cNvSpPr txBox="1"/>
          <p:nvPr/>
        </p:nvSpPr>
        <p:spPr>
          <a:xfrm>
            <a:off x="344424" y="6400799"/>
            <a:ext cx="11241024" cy="246221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Morgan Stanley Case Study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CBA Case Study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JPMorgan Case Study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CAB379-6709-9EB7-8F30-A43F7BAD8D05}"/>
              </a:ext>
            </a:extLst>
          </p:cNvPr>
          <p:cNvSpPr/>
          <p:nvPr/>
        </p:nvSpPr>
        <p:spPr>
          <a:xfrm>
            <a:off x="344424" y="1168400"/>
            <a:ext cx="3600000" cy="5031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852BF1-2E2A-3656-A5EA-74EC7362ECA7}"/>
              </a:ext>
            </a:extLst>
          </p:cNvPr>
          <p:cNvSpPr/>
          <p:nvPr/>
        </p:nvSpPr>
        <p:spPr>
          <a:xfrm>
            <a:off x="4291584" y="1168400"/>
            <a:ext cx="3600000" cy="5031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DF2340-AD57-A929-1120-C022A83BE8E1}"/>
              </a:ext>
            </a:extLst>
          </p:cNvPr>
          <p:cNvSpPr/>
          <p:nvPr/>
        </p:nvSpPr>
        <p:spPr>
          <a:xfrm>
            <a:off x="8238744" y="1168400"/>
            <a:ext cx="3600000" cy="5031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83A222E5-8566-DE42-3BC7-2874D17A88C6}"/>
              </a:ext>
            </a:extLst>
          </p:cNvPr>
          <p:cNvSpPr/>
          <p:nvPr/>
        </p:nvSpPr>
        <p:spPr>
          <a:xfrm rot="5400000">
            <a:off x="382368" y="1194152"/>
            <a:ext cx="658368" cy="4605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01</a:t>
            </a:r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F9673B5D-5EA4-F1C3-FB7B-E56F08C74551}"/>
              </a:ext>
            </a:extLst>
          </p:cNvPr>
          <p:cNvSpPr/>
          <p:nvPr/>
        </p:nvSpPr>
        <p:spPr>
          <a:xfrm rot="5400000">
            <a:off x="4315968" y="1194152"/>
            <a:ext cx="658368" cy="4605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02</a:t>
            </a:r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EEB37702-DAF3-8360-68C5-9BA789107DCA}"/>
              </a:ext>
            </a:extLst>
          </p:cNvPr>
          <p:cNvSpPr/>
          <p:nvPr/>
        </p:nvSpPr>
        <p:spPr>
          <a:xfrm rot="5400000">
            <a:off x="8263128" y="1194152"/>
            <a:ext cx="658368" cy="4605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03</a:t>
            </a:r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609BE-A423-1811-2B3B-23A6AE95CDFA}"/>
              </a:ext>
            </a:extLst>
          </p:cNvPr>
          <p:cNvSpPr txBox="1"/>
          <p:nvPr/>
        </p:nvSpPr>
        <p:spPr>
          <a:xfrm>
            <a:off x="434424" y="2084832"/>
            <a:ext cx="342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Morgan Stanley: AI-Powered Knowledge Management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Situation: Financial advisors had to manually sift through over 100,000 proprietary research reports and internal documents to answer client questions.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Task: Create a system to help advisors instantly access and synthesize the bank’s vast intellectual capital.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Action: Developed a custom internal assistant powered by GPT-4 that serves as a knowledge-base for the firm’s proprietary data.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Result: Advisors can now find and summarize specific investment information in seconds, significantly increasing productivity and allowing for more high-quality client interactions.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08695B-50F0-B58A-1288-878442076BC8}"/>
              </a:ext>
            </a:extLst>
          </p:cNvPr>
          <p:cNvSpPr txBox="1"/>
          <p:nvPr/>
        </p:nvSpPr>
        <p:spPr>
          <a:xfrm>
            <a:off x="4381584" y="2084832"/>
            <a:ext cx="3420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Commonwealth Bank of Australia (CBA): CommBank Copilot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Situation: The bank needed to improve internal efficiency and employee access to information across its workforce.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Task: Rapidly build and deploy a secure GenAI tool for employees while maintaining strict data guardrails.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Action: Developed and launched "CommBank Copilot," an internal chatbot, in just six weeks by leveraging existing cloud infrastructure and a dedicated AI Studio.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Result: Thousands of employees now use the tool for tasks like document summarization and content generation, proving that banking-grade AI can be deployed at high speed.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3F905-7537-785C-CF15-5FD8A9BDE3FD}"/>
              </a:ext>
            </a:extLst>
          </p:cNvPr>
          <p:cNvSpPr txBox="1"/>
          <p:nvPr/>
        </p:nvSpPr>
        <p:spPr>
          <a:xfrm>
            <a:off x="8328744" y="2084832"/>
            <a:ext cx="3420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JPMorgan Chase: Automated Document Analysis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Situation: The bank handles massive volumes of complex financial documents that require high-speed analysis for investment and compliance purposes.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Task: Automate the extraction of insights from financial filings and investigate AI-driven investment selection.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Action: Deployed Large Language Models (LLMs) for document analysis and moved toward trademarking "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IndexGPT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" for investment advisory services.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Result: The bank achieved the ability to process thousands of documents in seconds, identifying market trends and extracting data significantly faster than human analysts.</a:t>
            </a:r>
            <a:endParaRPr lang="en-IN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A77A386-1A58-980B-8875-1F40C8936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295" y="1280598"/>
            <a:ext cx="1445289" cy="3850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D41DF47-1CA9-3CDA-AFA1-6877484D0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4555" y="1244162"/>
            <a:ext cx="1731783" cy="4598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71EEC47-7CBA-5C2B-C4DF-DC9F247A47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5667" y="1244162"/>
            <a:ext cx="1612715" cy="4031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77B84B9-90F0-E573-E87F-E7C130FFCAE1}"/>
              </a:ext>
            </a:extLst>
          </p:cNvPr>
          <p:cNvSpPr txBox="1"/>
          <p:nvPr/>
        </p:nvSpPr>
        <p:spPr>
          <a:xfrm>
            <a:off x="344424" y="219456"/>
            <a:ext cx="11503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Leading banks are already seeing measurable gains — faster decisions, leaner operations, and deeper client relationships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55532E-79F1-FA0C-4C9D-32DFEB44C6B1}"/>
              </a:ext>
            </a:extLst>
          </p:cNvPr>
          <p:cNvSpPr txBox="1"/>
          <p:nvPr/>
        </p:nvSpPr>
        <p:spPr>
          <a:xfrm>
            <a:off x="10965452" y="6638544"/>
            <a:ext cx="12265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i="1" dirty="0">
                <a:latin typeface="Segoe UI" panose="020B0502040204020203" pitchFamily="34" charset="0"/>
                <a:cs typeface="Segoe UI" panose="020B0502040204020203" pitchFamily="34" charset="0"/>
              </a:rPr>
              <a:t>Created by: Sachin Garje</a:t>
            </a:r>
            <a:endParaRPr lang="en-IN" sz="7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934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25271C-CE7C-855D-70C1-1333197AE746}"/>
              </a:ext>
            </a:extLst>
          </p:cNvPr>
          <p:cNvSpPr txBox="1"/>
          <p:nvPr/>
        </p:nvSpPr>
        <p:spPr>
          <a:xfrm>
            <a:off x="344424" y="6400799"/>
            <a:ext cx="11241024" cy="246221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 err="1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DTskill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 err="1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IoTAnalytics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Desktop Research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F61D2B-64C4-B5B2-E6C2-8450489EE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477114"/>
              </p:ext>
            </p:extLst>
          </p:nvPr>
        </p:nvGraphicFramePr>
        <p:xfrm>
          <a:off x="344424" y="1940560"/>
          <a:ext cx="11503150" cy="43199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1496">
                  <a:extLst>
                    <a:ext uri="{9D8B030D-6E8A-4147-A177-3AD203B41FA5}">
                      <a16:colId xmlns:a16="http://schemas.microsoft.com/office/drawing/2014/main" val="2063824677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4079052540"/>
                    </a:ext>
                  </a:extLst>
                </a:gridCol>
                <a:gridCol w="2214880">
                  <a:extLst>
                    <a:ext uri="{9D8B030D-6E8A-4147-A177-3AD203B41FA5}">
                      <a16:colId xmlns:a16="http://schemas.microsoft.com/office/drawing/2014/main" val="1653036542"/>
                    </a:ext>
                  </a:extLst>
                </a:gridCol>
                <a:gridCol w="3820160">
                  <a:extLst>
                    <a:ext uri="{9D8B030D-6E8A-4147-A177-3AD203B41FA5}">
                      <a16:colId xmlns:a16="http://schemas.microsoft.com/office/drawing/2014/main" val="2988686467"/>
                    </a:ext>
                  </a:extLst>
                </a:gridCol>
                <a:gridCol w="2530854">
                  <a:extLst>
                    <a:ext uri="{9D8B030D-6E8A-4147-A177-3AD203B41FA5}">
                      <a16:colId xmlns:a16="http://schemas.microsoft.com/office/drawing/2014/main" val="4043450088"/>
                    </a:ext>
                  </a:extLst>
                </a:gridCol>
              </a:tblGrid>
              <a:tr h="38362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Vendor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Type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Core GenAI Solution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Banking Applications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Banking Use Cases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2755"/>
                  </a:ext>
                </a:extLst>
              </a:tr>
              <a:tr h="77565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Microsoft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Hyperscalers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Azure OpenAI + Copilot for Financial Services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Integrating GenAI across the Microsoft 365 stack for frontline employee productivity and building custom LLM apps via Azure.</a:t>
                      </a:r>
                      <a:endParaRPr lang="fr-F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Enterprise </a:t>
                      </a:r>
                      <a:r>
                        <a:rPr lang="fr-FR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copilots</a:t>
                      </a:r>
                      <a:r>
                        <a:rPr lang="fr-FR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code </a:t>
                      </a:r>
                      <a:r>
                        <a:rPr lang="fr-FR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generation</a:t>
                      </a:r>
                      <a:r>
                        <a:rPr lang="fr-FR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document </a:t>
                      </a:r>
                      <a:r>
                        <a:rPr lang="fr-FR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summarisation</a:t>
                      </a:r>
                      <a:r>
                        <a:rPr lang="fr-FR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fr-FR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risk</a:t>
                      </a:r>
                      <a:r>
                        <a:rPr lang="fr-FR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fr-FR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analysis</a:t>
                      </a:r>
                      <a:endParaRPr lang="fr-FR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745555"/>
                  </a:ext>
                </a:extLst>
              </a:tr>
              <a:tr h="80469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IBM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Strategic Consultants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Watsonx.ai, &amp; Granite Models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"Sovereign AI" and governance-heavy models focused on regulatory compliance, risk management, and legacy code modernization (COBOL to Java).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Compliance governance, risk monitoring, AML, agentic AI integration with Salesforce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244324"/>
                  </a:ext>
                </a:extLst>
              </a:tr>
              <a:tr h="80469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Accenture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Strategic Consultants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 Navigator &amp; Managed Ops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End-to-end transformation services focusing on "Agentic AI" to automate middle-office functions like loan underwriting and SAR drafting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Implementation of </a:t>
                      </a:r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hyperscaler</a:t>
                      </a: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models into bank workflows, POC-to-production acceleration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101955"/>
                  </a:ext>
                </a:extLst>
              </a:tr>
              <a:tr h="77565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Google Cloud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Hyperscalers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Vertex AI, Dialogflow &amp; Gemini 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Search-and-summarization tools for high-volume document processing and hyper-personalized customer "Intent Engines."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Conversational banking, virtual assistants, fraud detection, regulatory doc processing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717667"/>
                  </a:ext>
                </a:extLst>
              </a:tr>
              <a:tr h="775659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AWS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Hyperscalers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Amazon Bedrock, SageMaker, Titan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Scalable infrastructure providing access to multiple LLMs for fraud detection, real-time sentiment analysis, and predictive customer analytics.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 hosting, RAG pipelines, fraud ML, document intelligence for lending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455955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CE67C0-802D-6301-3C2B-3A718990B529}"/>
              </a:ext>
            </a:extLst>
          </p:cNvPr>
          <p:cNvSpPr/>
          <p:nvPr/>
        </p:nvSpPr>
        <p:spPr>
          <a:xfrm>
            <a:off x="5750560" y="1046668"/>
            <a:ext cx="6097014" cy="75094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i="1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Hyperscalers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Provides foundation; they sell the compute power and pre-built LLMs that banks use to build their own internal tools  </a:t>
            </a:r>
          </a:p>
          <a:p>
            <a:r>
              <a:rPr lang="en-US" sz="1200" b="1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Strategic Consultants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Focus on implementation; integrate AI into existing core banking systems and ensure that the AI meets strict global banking regulations.</a:t>
            </a:r>
            <a:endParaRPr lang="en-IN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4A19F-8439-8E34-2306-1B8BC95B12EB}"/>
              </a:ext>
            </a:extLst>
          </p:cNvPr>
          <p:cNvSpPr txBox="1"/>
          <p:nvPr/>
        </p:nvSpPr>
        <p:spPr>
          <a:xfrm>
            <a:off x="344424" y="219456"/>
            <a:ext cx="11503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Banks face a strategic choice: </a:t>
            </a:r>
            <a:r>
              <a:rPr lang="en-US" dirty="0" err="1"/>
              <a:t>Hyperscalers</a:t>
            </a:r>
            <a:r>
              <a:rPr lang="en-US" dirty="0"/>
              <a:t> offer speed and scale, while strategic consultants ensure compliance and controlled deployment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286B8B-A2BA-D88A-3634-177B956935C9}"/>
              </a:ext>
            </a:extLst>
          </p:cNvPr>
          <p:cNvSpPr txBox="1"/>
          <p:nvPr/>
        </p:nvSpPr>
        <p:spPr>
          <a:xfrm>
            <a:off x="10965452" y="6638544"/>
            <a:ext cx="12265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i="1" dirty="0">
                <a:latin typeface="Segoe UI" panose="020B0502040204020203" pitchFamily="34" charset="0"/>
                <a:cs typeface="Segoe UI" panose="020B0502040204020203" pitchFamily="34" charset="0"/>
              </a:rPr>
              <a:t>Created by: Sachin Garje</a:t>
            </a:r>
            <a:endParaRPr lang="en-IN" sz="7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80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6B5414-D3B5-1C50-943E-1D2EB00AB44E}"/>
              </a:ext>
            </a:extLst>
          </p:cNvPr>
          <p:cNvSpPr txBox="1"/>
          <p:nvPr/>
        </p:nvSpPr>
        <p:spPr>
          <a:xfrm>
            <a:off x="344424" y="219456"/>
            <a:ext cx="11503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Executive Summary</a:t>
            </a:r>
          </a:p>
          <a:p>
            <a:r>
              <a:rPr lang="en-US" sz="1600" i="1" dirty="0">
                <a:solidFill>
                  <a:schemeClr val="accent4"/>
                </a:solidFill>
              </a:rPr>
              <a:t>GenAI is redefining the economics of banking — Early movers are pulling ahead, and the gap is widening</a:t>
            </a:r>
            <a:endParaRPr lang="en-US" i="1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B573A8-AFC1-237D-299A-E16CD5B53E17}"/>
              </a:ext>
            </a:extLst>
          </p:cNvPr>
          <p:cNvSpPr/>
          <p:nvPr/>
        </p:nvSpPr>
        <p:spPr>
          <a:xfrm>
            <a:off x="490728" y="1003808"/>
            <a:ext cx="3384000" cy="12096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$6B → $85B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Bank GenAI spend | 2024-2030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55.6% CAGR</a:t>
            </a:r>
            <a:endParaRPr lang="en-IN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24B1A7-53B3-55B6-2287-9748D0D950F6}"/>
              </a:ext>
            </a:extLst>
          </p:cNvPr>
          <p:cNvSpPr/>
          <p:nvPr/>
        </p:nvSpPr>
        <p:spPr>
          <a:xfrm>
            <a:off x="4404000" y="1003808"/>
            <a:ext cx="3384000" cy="12096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$200B → $340B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Annual value GenAI can unlock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global banking (9–15% of profits)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941C8E-4374-2D62-A355-3A818DE7896D}"/>
              </a:ext>
            </a:extLst>
          </p:cNvPr>
          <p:cNvSpPr/>
          <p:nvPr/>
        </p:nvSpPr>
        <p:spPr>
          <a:xfrm>
            <a:off x="8317272" y="1003808"/>
            <a:ext cx="3384000" cy="12090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75%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CEOs rank AI/GenAI in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 3 strategic priorities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CB285E-EC5D-E2D9-56A8-5A7D4473FE1D}"/>
              </a:ext>
            </a:extLst>
          </p:cNvPr>
          <p:cNvSpPr txBox="1"/>
          <p:nvPr/>
        </p:nvSpPr>
        <p:spPr>
          <a:xfrm>
            <a:off x="2203704" y="2558912"/>
            <a:ext cx="9497568" cy="6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GenAI has moved from IT experiment to board-level mandate — CIOs are now accountable for ROI, not just pilots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60% of banking CEOs are pushing AI adoption faster than comfortable; 75% rank it a top-3 priority; 61% already report substantial deployment impact.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FE4770-FCB0-DF35-9062-FFB7F6BF20FF}"/>
              </a:ext>
            </a:extLst>
          </p:cNvPr>
          <p:cNvSpPr txBox="1"/>
          <p:nvPr/>
        </p:nvSpPr>
        <p:spPr>
          <a:xfrm>
            <a:off x="2203704" y="3316069"/>
            <a:ext cx="9497568" cy="6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Competitive survival is the primary driver — banks that lag risk structural disadvantage as peers scale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71% of CEOs believe GenAI leaders will gain a significant edge. Banks are targeting '10x' operational efficiency and AI-powered personalization as revenue levers.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9D66EA-67BC-E9EC-226F-78F9DFCA0B75}"/>
              </a:ext>
            </a:extLst>
          </p:cNvPr>
          <p:cNvSpPr txBox="1"/>
          <p:nvPr/>
        </p:nvSpPr>
        <p:spPr>
          <a:xfrm>
            <a:off x="2203704" y="4073226"/>
            <a:ext cx="9497568" cy="6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The path to scale is real but narrow — skill gaps, legacy infrastructure and the 'pilot trap' are the critical bottlenecks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46% of CEOs cite workforce skill gaps as the top barrier; fragmented data estates and regulatory risks slow enterprise-wide rollout beyond proof-of-concept.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3ABD1-9B6F-52EC-BB8D-71EA71274C91}"/>
              </a:ext>
            </a:extLst>
          </p:cNvPr>
          <p:cNvSpPr txBox="1"/>
          <p:nvPr/>
        </p:nvSpPr>
        <p:spPr>
          <a:xfrm>
            <a:off x="2203704" y="4830383"/>
            <a:ext cx="9497568" cy="6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Peers are already delivering proof — Morgan Stanley, CBA and JPMorgan show that governed, production-scale GenAI is achievable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Morgan Stanley synthesizes 100,000+ reports in seconds; CBA deployed a bank-wide copilot in 6 weeks; JPMorgan processes thousands of financial documents faster than any human team.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100282-603E-854A-8FD0-2A7FA4D018AC}"/>
              </a:ext>
            </a:extLst>
          </p:cNvPr>
          <p:cNvSpPr txBox="1"/>
          <p:nvPr/>
        </p:nvSpPr>
        <p:spPr>
          <a:xfrm>
            <a:off x="2203704" y="5587540"/>
            <a:ext cx="9497568" cy="6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Vendor choice is a strategic decision —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hyperscalers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provide speed and scale, consultants ensure compliance and controlled deployment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Microsoft + Azure OpenAI dominates enterprise deployments; IBM and Accenture lead on governance-heavy, regulated AI integration and agentic AI for mid/back-office functions.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AFE99B-8722-5041-334F-737414001600}"/>
              </a:ext>
            </a:extLst>
          </p:cNvPr>
          <p:cNvSpPr/>
          <p:nvPr/>
        </p:nvSpPr>
        <p:spPr>
          <a:xfrm>
            <a:off x="490728" y="2558912"/>
            <a:ext cx="1368000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CIO Attitudes &amp; Priorities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5F7C7D-093A-C61E-A911-C22ECC7E653E}"/>
              </a:ext>
            </a:extLst>
          </p:cNvPr>
          <p:cNvSpPr/>
          <p:nvPr/>
        </p:nvSpPr>
        <p:spPr>
          <a:xfrm>
            <a:off x="490728" y="3316069"/>
            <a:ext cx="1368000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Demand Drivers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5F875A-9C0C-F23E-8E45-6306B7A9176A}"/>
              </a:ext>
            </a:extLst>
          </p:cNvPr>
          <p:cNvSpPr/>
          <p:nvPr/>
        </p:nvSpPr>
        <p:spPr>
          <a:xfrm>
            <a:off x="490728" y="4073226"/>
            <a:ext cx="1368000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Challenges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4F6EBB-5C98-5C3C-0988-DFCE16FEF9AC}"/>
              </a:ext>
            </a:extLst>
          </p:cNvPr>
          <p:cNvSpPr/>
          <p:nvPr/>
        </p:nvSpPr>
        <p:spPr>
          <a:xfrm>
            <a:off x="490728" y="4830383"/>
            <a:ext cx="1368000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Bank Use Cases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C006B8-40FF-867E-3C88-C289A95E33D9}"/>
              </a:ext>
            </a:extLst>
          </p:cNvPr>
          <p:cNvSpPr/>
          <p:nvPr/>
        </p:nvSpPr>
        <p:spPr>
          <a:xfrm>
            <a:off x="490728" y="5587540"/>
            <a:ext cx="1368000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Vendor Landscape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0B18AD-DF5C-0FA5-21A0-0103B055D47F}"/>
              </a:ext>
            </a:extLst>
          </p:cNvPr>
          <p:cNvSpPr txBox="1"/>
          <p:nvPr/>
        </p:nvSpPr>
        <p:spPr>
          <a:xfrm>
            <a:off x="10965452" y="6638544"/>
            <a:ext cx="12265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i="1" dirty="0">
                <a:latin typeface="Segoe UI" panose="020B0502040204020203" pitchFamily="34" charset="0"/>
                <a:cs typeface="Segoe UI" panose="020B0502040204020203" pitchFamily="34" charset="0"/>
              </a:rPr>
              <a:t>Created by: Sachin Garje</a:t>
            </a:r>
            <a:endParaRPr lang="en-IN" sz="7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68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1537</Words>
  <Application>Microsoft Office PowerPoint</Application>
  <PresentationFormat>Widescreen</PresentationFormat>
  <Paragraphs>131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Garje</dc:creator>
  <cp:lastModifiedBy>Sachin Garje</cp:lastModifiedBy>
  <cp:revision>22</cp:revision>
  <dcterms:created xsi:type="dcterms:W3CDTF">2026-04-11T06:39:50Z</dcterms:created>
  <dcterms:modified xsi:type="dcterms:W3CDTF">2026-05-04T10:44:14Z</dcterms:modified>
</cp:coreProperties>
</file>