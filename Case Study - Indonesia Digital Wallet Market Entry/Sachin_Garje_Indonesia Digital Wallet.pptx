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1" r:id="rId3"/>
    <p:sldId id="266" r:id="rId4"/>
    <p:sldId id="273" r:id="rId5"/>
    <p:sldId id="263" r:id="rId6"/>
    <p:sldId id="264" r:id="rId7"/>
    <p:sldId id="262" r:id="rId8"/>
    <p:sldId id="265" r:id="rId9"/>
    <p:sldId id="269" r:id="rId10"/>
    <p:sldId id="268" r:id="rId11"/>
    <p:sldId id="274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C" id="{5723204E-B271-4DDD-8D3A-FC97632D59BC}">
          <p14:sldIdLst>
            <p14:sldId id="272"/>
            <p14:sldId id="271"/>
          </p14:sldIdLst>
        </p14:section>
        <p14:section name="Market Sizing &amp; Segmentation" id="{DFE5A02B-E4F4-4FB0-BACA-34220AC03E72}">
          <p14:sldIdLst>
            <p14:sldId id="266"/>
            <p14:sldId id="273"/>
          </p14:sldIdLst>
        </p14:section>
        <p14:section name="Competitive Landscape" id="{36D0C86D-1B15-43C3-92FF-318F3CF57E89}">
          <p14:sldIdLst>
            <p14:sldId id="263"/>
          </p14:sldIdLst>
        </p14:section>
        <p14:section name="Customer Needs &amp; Adoption Barriers" id="{E5659D1A-C728-420B-A524-8E16DDC0DAC1}">
          <p14:sldIdLst>
            <p14:sldId id="264"/>
          </p14:sldIdLst>
        </p14:section>
        <p14:section name="Value Proposition &amp; Positioning" id="{81FAD92A-7C2F-47FE-943D-33A4285CFECE}">
          <p14:sldIdLst>
            <p14:sldId id="262"/>
            <p14:sldId id="265"/>
          </p14:sldIdLst>
        </p14:section>
        <p14:section name="Channel &amp; Partnership Strategy" id="{34439BF8-5F24-4017-A4F4-070E7F7EDB97}">
          <p14:sldIdLst>
            <p14:sldId id="269"/>
          </p14:sldIdLst>
        </p14:section>
        <p14:section name="Pricing &amp; Monetization" id="{7324B681-9F01-48AF-AFE0-98079F907B17}">
          <p14:sldIdLst>
            <p14:sldId id="268"/>
            <p14:sldId id="274"/>
          </p14:sldIdLst>
        </p14:section>
        <p14:section name="Key Metrics &amp; Lauch Roadmap" id="{B5412CBD-021B-4C4A-8D65-5056F07677F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3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F13F-5C54-1789-44FA-2D29C2FA2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C21CE-7CB8-492D-0747-AFA91905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F2B5F-A28B-0C09-F0E6-A024B56D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2A5C4-744F-13D1-DBD9-79DF2EA81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64B01-7E73-13AA-B445-B16D69E0A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56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A7D33-C2A7-4F6B-4433-CF5CAEC4B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750EB-F49E-633B-962C-119E74AA5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C5A88-1CE2-926B-7B7B-32A3E09FE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5527B-E256-5BBF-2F11-70C8FFAB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C1AB5-32A6-2AD8-41FA-5CC1DC58E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53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F93CC-E184-D990-DE21-6871DB11E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3A738-ABBE-B381-65D6-B4EB3E3B3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D91F5-7816-F54F-B054-7AC37C57A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04972-E097-5548-57A6-B9FE54CBC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1739A-5528-90E3-B8BB-F448382C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031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D287-DD39-4113-E08E-532009010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881DE-9D00-AA91-2BFF-4F24D6A18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FEFA3-FF77-7745-8E5B-3D8F5E430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BCC2B-2C63-E3B8-5233-41F25777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7AEDB-8F52-C86D-CDBB-DDA8A5D63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89E75-42C6-5C58-16E1-5B82670D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555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A11F-B838-68A9-2456-076B8E8D0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AA025-450E-0FD8-76D5-75A8BE053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C615A-2E04-DE0F-B519-CFDDEE406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A044F9-A101-6974-71C0-FC73AFD05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30A272-4D39-216D-6B78-A2E0369A0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65866-99FE-8A36-0115-FD32C38FD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383AD5-CBC1-C279-18F3-8D9B0FD0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219899-4944-2741-EA98-6AA0DE7D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5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3BE96-970F-D43B-5B00-93F2BA41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9DCC07-DB03-29CC-D6B0-BFD955D18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1CB32-B500-4727-5AF7-0089452C8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412B2-1335-0740-03E4-CB6AA33AA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159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3470C-4294-9DAE-267F-A6A0428BB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8BD5DB-79FA-4FDF-E03A-DA2E9D551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D1FE4-2357-372D-D74D-598593A0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129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FD47-F119-13C6-1790-38709AD9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5798D-6114-1B6E-6E54-FC737DEDB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3DFD6-B117-05EB-777A-442397453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C01A-0E13-E0C9-B86E-6994C2F4D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7DAD2-DCB9-543C-88F8-AEC2BB58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14627-DF03-FEAE-9A4D-D4B6DFDCA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26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4C57-2C35-A16B-9107-DABF9A26A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A70113-87E6-A86D-2BD2-5D267A8A04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5F592-3DBB-F8FE-A477-C1BF142DF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AC4DE-A04A-5D00-421F-98640DA8B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7E8DE-7EC2-17AB-C730-2CF16477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29BE1-FB62-57F4-EE7F-5999B538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981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0686A-D907-A3EA-7C75-154ED33DB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A4A40-EF39-140A-5761-45239A2E2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DE776-18E2-C649-8FB9-5AF9890B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A208D-7899-828D-68FE-18A2A0E0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F3D36-0626-E04D-4246-90F51F61C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932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3D6D20-CE30-400E-2733-E067534073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F22F1-386D-FE7E-3A4D-2F9414962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08605-FFE3-7BFC-EFAA-BE133DF6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C1214-CBC8-D63E-D513-0921D6DC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02CA0-FDC4-C0CF-D12B-3E996886C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1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C5F003-402F-7167-59F6-C4BC8D0AF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399B8-19F9-E198-D42E-CB5FB2AEE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AA0DF-8393-43CE-661C-55664999C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31C10-D655-4DD2-9B54-B5D61C8A2BE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065E0-8535-5F87-5804-6B63BA107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AB076-358E-D28F-AD15-3FF3A6E94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D27CA2-B17F-43D2-812A-11B619E22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73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5.xml"/><Relationship Id="rId7" Type="http://schemas.openxmlformats.org/officeDocument/2006/relationships/slide" Target="slide1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paymentscmi.com/insights/indonesia-ecommerce-market-data/" TargetMode="External"/><Relationship Id="rId3" Type="http://schemas.openxmlformats.org/officeDocument/2006/relationships/hyperlink" Target="https://www.bps.go.id/en/statistics-table/1/MTI3NiMx/percentage-of-population-in-urban-area-results-of-population-projection-by-province--2015---2035.html" TargetMode="External"/><Relationship Id="rId7" Type="http://schemas.openxmlformats.org/officeDocument/2006/relationships/hyperlink" Target="https://coinlaw.io/gopay-statistics/#GoPay-Regional-Adoption-Rates" TargetMode="External"/><Relationship Id="rId2" Type="http://schemas.openxmlformats.org/officeDocument/2006/relationships/hyperlink" Target="https://www.bps.go.id/en/statistics-table/3/WVc0MGEyMXBkVFUxY25KeE9HdDZkbTQzWkVkb1p6MDkjMyMwMDAw/population-by-age-groups-and-sex--thousand-.html?year=2025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eb-api.bps.go.id/download.php?f=ia8hLHdXMa5wKMZ8E7W60XZMNTAxcnFjZkdoaXNWQVBQajM3TDFUaWpOeU1RclZCZGZmK3BxTVRMa0VEcjFudEhtenJ0WkU2dVcxRTh3ZWhWY05xUjFZajhXODNoRXJuQ2NBSThaNnIxaWZqOGNqT2MvRWp5NExNUnN6blpOYUd2YkRSNFF0M20ycjVvR3cwTWplY29lVkRrcnYwUURSNkcwWUw3c2ZDSnk0VXVSbU9QRGMyZHQ4SFpRRk1yd01tM1NSNXpMcTMzOUhnK1JaMUR3dWk4N2dVeHU5Q2RiL2xMUllVSWt2azlrbnZRZVJuK21qTlUzQUh3dURwTW5OK21oV3Rpa0ZnTDg0THRnU1I=&amp;_gl=1*54wo7i*_ga*MTk5NzQwNjU5Ny4xNzc2ODc0NDQx*_ga_XXTTVXWHDB*czE3NzY5MjIyOTIkbzMkZzEkdDE3NzY5MjQ2OTIkajI5JGwwJGgw" TargetMode="External"/><Relationship Id="rId5" Type="http://schemas.openxmlformats.org/officeDocument/2006/relationships/hyperlink" Target="https://survei.apjii.or.id/survei/group/11" TargetMode="External"/><Relationship Id="rId4" Type="http://schemas.openxmlformats.org/officeDocument/2006/relationships/hyperlink" Target="https://www.bps.go.id/en/statistics-table/2/Mzk1IzI=/percentage-of-population-owns-cellular-mobile-phone-by-province-and-urban-rural-classification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arketsandata.com/industry-reports/indonesia-mobile-wallet-market" TargetMode="External"/><Relationship Id="rId3" Type="http://schemas.openxmlformats.org/officeDocument/2006/relationships/hyperlink" Target="https://dwaynegefferie.substack.com/p/indonesia-the-super-app-market-nobodys" TargetMode="External"/><Relationship Id="rId7" Type="http://schemas.openxmlformats.org/officeDocument/2006/relationships/hyperlink" Target="https://knowledge.antom.com/top-digital-payment-methods-in-indonesia-that-power-e-commerce" TargetMode="External"/><Relationship Id="rId2" Type="http://schemas.openxmlformats.org/officeDocument/2006/relationships/hyperlink" Target="https://sensortower.com/blog/market-trend-and-audience-landscape-across-major-digital-wallet-apps-in-indonesia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intechnews.id/top-e-wallets-in-indonesia-best-for/" TargetMode="External"/><Relationship Id="rId5" Type="http://schemas.openxmlformats.org/officeDocument/2006/relationships/hyperlink" Target="https://coinlaw.io/gopay-statistics/#Competitive-Position-vs-other-e-wallets" TargetMode="External"/><Relationship Id="rId10" Type="http://schemas.openxmlformats.org/officeDocument/2006/relationships/image" Target="../media/image2.svg"/><Relationship Id="rId4" Type="http://schemas.openxmlformats.org/officeDocument/2006/relationships/hyperlink" Target="https://www.mordorintelligence.com/industry-reports/indonesia-mobile-payments-market" TargetMode="External"/><Relationship Id="rId9" Type="http://schemas.openxmlformats.org/officeDocument/2006/relationships/hyperlink" Target="https://knowledge.antom.com/unlocking-opportunities-in-indonesia-southeast-asias-largest-digital-payments-market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400854170_Challenges_And_Opportunities_A_Netnographic_Study_Of_The_Perceptions_Of_Fintech_E-Wallet_Users_In_Indonesia" TargetMode="External"/><Relationship Id="rId7" Type="http://schemas.openxmlformats.org/officeDocument/2006/relationships/image" Target="../media/image5.svg"/><Relationship Id="rId2" Type="http://schemas.openxmlformats.org/officeDocument/2006/relationships/hyperlink" Target="https://onlinelibrary.wiley.com/doi/10.1155/2023/8864865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hyperlink" Target="https://systems.enpress-publisher.com/index.php/jipd/article/viewFile/8857/4256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ordorintelligence.com/industry-reports/indonesia-mobile-payments-market" TargetMode="External"/><Relationship Id="rId13" Type="http://schemas.openxmlformats.org/officeDocument/2006/relationships/hyperlink" Target="https://knowledge.antom.com/unlocking-opportunities-in-indonesia-southeast-asias-largest-digital-payments-market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dwaynegefferie.substack.com/p/indonesia-the-super-app-market-nobodys" TargetMode="External"/><Relationship Id="rId12" Type="http://schemas.openxmlformats.org/officeDocument/2006/relationships/hyperlink" Target="https://www.marketsandata.com/industry-reports/indonesia-mobile-wallet-market" TargetMode="Externa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ensortower.com/blog/market-trend-and-audience-landscape-across-major-digital-wallet-apps-in-indonesia" TargetMode="External"/><Relationship Id="rId11" Type="http://schemas.openxmlformats.org/officeDocument/2006/relationships/hyperlink" Target="https://knowledge.antom.com/top-digital-payment-methods-in-indonesia-that-power-e-commerce" TargetMode="External"/><Relationship Id="rId5" Type="http://schemas.openxmlformats.org/officeDocument/2006/relationships/image" Target="../media/image8.png"/><Relationship Id="rId10" Type="http://schemas.openxmlformats.org/officeDocument/2006/relationships/hyperlink" Target="https://fintechnews.id/top-e-wallets-in-indonesia-best-for/" TargetMode="External"/><Relationship Id="rId4" Type="http://schemas.openxmlformats.org/officeDocument/2006/relationships/image" Target="../media/image7.png"/><Relationship Id="rId9" Type="http://schemas.openxmlformats.org/officeDocument/2006/relationships/hyperlink" Target="https://coinlaw.io/gopay-statistics/#Competitive-Position-vs-other-e-wallet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aymentscmi.com/insights/indonesia-ecommerce-payments-trends-2025/" TargetMode="External"/><Relationship Id="rId7" Type="http://schemas.openxmlformats.org/officeDocument/2006/relationships/image" Target="../media/image2.svg"/><Relationship Id="rId2" Type="http://schemas.openxmlformats.org/officeDocument/2006/relationships/hyperlink" Target="https://www.mordorintelligence.com/industry-reports/indonesia-mobile-payments-marke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ystems.enpress-publisher.com/index.php/jipd/article/viewFile/8857/4256" TargetMode="External"/><Relationship Id="rId5" Type="http://schemas.openxmlformats.org/officeDocument/2006/relationships/hyperlink" Target="https://www.researchgate.net/publication/400854170_Challenges_And_Opportunities_A_Netnographic_Study_Of_The_Perceptions_Of_Fintech_E-Wallet_Users_In_Indonesia" TargetMode="External"/><Relationship Id="rId4" Type="http://schemas.openxmlformats.org/officeDocument/2006/relationships/hyperlink" Target="https://onlinelibrary.wiley.com/doi/10.1155/2023/8864865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hyperlink" Target="https://paymentscmi.com/insights/indonesia-ecommerce-payments-trends-2025/" TargetMode="External"/><Relationship Id="rId7" Type="http://schemas.openxmlformats.org/officeDocument/2006/relationships/hyperlink" Target="https://www.gojek.com/en-id/help/gopay/pembayaran-di-alfa-group-dan-indomaret-dengan-kode-gopay" TargetMode="External"/><Relationship Id="rId2" Type="http://schemas.openxmlformats.org/officeDocument/2006/relationships/hyperlink" Target="https://knowledge.antom.com/top-digital-payment-methods-in-indonesia-that-power-e-commerce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log.alfagift.id/ini-cara-top-up-gopay-di-alfamart-beserta-biayanya/" TargetMode="External"/><Relationship Id="rId5" Type="http://schemas.openxmlformats.org/officeDocument/2006/relationships/hyperlink" Target="https://digitalinasia.com/2026/04/03/indonesia-digital-market-overview-2026/" TargetMode="External"/><Relationship Id="rId10" Type="http://schemas.openxmlformats.org/officeDocument/2006/relationships/image" Target="../media/image11.svg"/><Relationship Id="rId4" Type="http://schemas.openxmlformats.org/officeDocument/2006/relationships/hyperlink" Target="https://www.ipsos.com/en-id/mapping-digital-wallet-landscape-2026-which-platform-leads-users-preferred-choice-according-ipsos" TargetMode="External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opay.co.id/blog/mdr-0-persen-untuk-transaksi-qris-usaha-mikro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financialmodelslab.com/blogs/kpi-metrics/digital-wallets" TargetMode="External"/><Relationship Id="rId2" Type="http://schemas.openxmlformats.org/officeDocument/2006/relationships/hyperlink" Target="https://medium.com/@geekyants/how-to-create-a-digital-wallet-app-a-complete-guide-81cad6666da3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zymr.com/blog/digital-wallet-app-development" TargetMode="External"/><Relationship Id="rId5" Type="http://schemas.openxmlformats.org/officeDocument/2006/relationships/hyperlink" Target="https://www.pcloudy.com/blogs/pre-launch-metrics-checklist-banking-app/" TargetMode="External"/><Relationship Id="rId4" Type="http://schemas.openxmlformats.org/officeDocument/2006/relationships/hyperlink" Target="https://startupfinancialprojection.com/blogs/kpis/digital-walle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FDBCCC-A04E-754F-FFDE-216D78DAD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2216" y="1728036"/>
            <a:ext cx="9867569" cy="3401929"/>
          </a:xfrm>
        </p:spPr>
        <p:txBody>
          <a:bodyPr anchor="ctr">
            <a:normAutofit/>
          </a:bodyPr>
          <a:lstStyle/>
          <a:p>
            <a:pPr algn="l"/>
            <a:r>
              <a:rPr lang="en-US" sz="4000" dirty="0">
                <a:solidFill>
                  <a:schemeClr val="accent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Launching Regional Digital Payments Platform</a:t>
            </a:r>
            <a:b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b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22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Background: Your client is a midsize fintech firm headquartered in Singapore. They’ve built a mobile-first digital wallet used by 200,000 users in Singapore, and now want to expand into Indonesia.</a:t>
            </a:r>
            <a:endParaRPr lang="en-IN" sz="2200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F722CA-8BDF-514A-543D-A53FC179BCB6}"/>
              </a:ext>
            </a:extLst>
          </p:cNvPr>
          <p:cNvSpPr/>
          <p:nvPr/>
        </p:nvSpPr>
        <p:spPr>
          <a:xfrm>
            <a:off x="1162216" y="3721212"/>
            <a:ext cx="9667461" cy="11131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C2C630-359A-D1CA-BFD0-965E76E6A0B4}"/>
              </a:ext>
            </a:extLst>
          </p:cNvPr>
          <p:cNvSpPr txBox="1"/>
          <p:nvPr/>
        </p:nvSpPr>
        <p:spPr>
          <a:xfrm>
            <a:off x="10658444" y="6565198"/>
            <a:ext cx="15097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i="1" dirty="0">
                <a:latin typeface="Segoe UI" panose="020B0502040204020203" pitchFamily="34" charset="0"/>
                <a:cs typeface="Segoe UI" panose="020B0502040204020203" pitchFamily="34" charset="0"/>
              </a:rPr>
              <a:t>Prepared by – Sachin Garje</a:t>
            </a:r>
            <a:endParaRPr lang="en-IN" sz="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731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BD2DE-7368-CEB3-DE83-B7EE4B80D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CD7DA6-AC70-FB5B-7A25-B24250CB4AA3}"/>
              </a:ext>
            </a:extLst>
          </p:cNvPr>
          <p:cNvSpPr txBox="1"/>
          <p:nvPr/>
        </p:nvSpPr>
        <p:spPr>
          <a:xfrm>
            <a:off x="344424" y="219456"/>
            <a:ext cx="11503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3" name="Text Placeholder 2">
            <a:hlinkClick r:id="rId2" action="ppaction://hlinksldjump"/>
            <a:extLst>
              <a:ext uri="{FF2B5EF4-FFF2-40B4-BE49-F238E27FC236}">
                <a16:creationId xmlns:a16="http://schemas.microsoft.com/office/drawing/2014/main" id="{E87AFB1B-84EF-80B8-A4D3-10481B03D1AC}"/>
              </a:ext>
            </a:extLst>
          </p:cNvPr>
          <p:cNvSpPr>
            <a:spLocks noGrp="1"/>
          </p:cNvSpPr>
          <p:nvPr/>
        </p:nvSpPr>
        <p:spPr bwMode="auto">
          <a:xfrm>
            <a:off x="3694111" y="1928813"/>
            <a:ext cx="4651375" cy="407988"/>
          </a:xfrm>
          <a:prstGeom prst="rect">
            <a:avLst/>
          </a:prstGeom>
          <a:solidFill>
            <a:schemeClr val="accent1"/>
          </a:solidFill>
          <a:ln w="38100" algn="ctr">
            <a:solidFill>
              <a:schemeClr val="bg1"/>
            </a:solidFill>
          </a:ln>
          <a:effectLst/>
        </p:spPr>
        <p:txBody>
          <a:bodyPr vert="horz" wrap="none" lIns="82550" tIns="80963" rIns="0" bIns="82550" numCol="1" spcCol="0" rtlCol="0" anchor="ctr" anchorCtr="0">
            <a:noAutofit/>
          </a:bodyPr>
          <a:lstStyle>
            <a:defPPr>
              <a:defRPr lang="ja-JP"/>
            </a:defPPr>
            <a:lvl1pPr marL="187200" indent="-187200" algn="l" defTabSz="914400" rtl="0" eaLnBrk="1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600" kern="1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1pPr>
            <a:lvl2pPr marL="609600" indent="-230188" algn="l" defTabSz="914400" rtl="0" eaLnBrk="1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4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984250" indent="-196850" algn="l" defTabSz="914400" rtl="0" eaLnBrk="1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4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3pPr>
            <a:lvl4pPr marL="1355725" indent="-190500" algn="l" defTabSz="914400" rtl="0" eaLnBrk="1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4pPr>
            <a:lvl5pPr marL="1674813" indent="-184150" algn="l" defTabSz="914400" rtl="0" eaLnBrk="1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5pPr>
            <a:lvl6pPr marL="1990725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altLang="ja-JP" b="1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Market Sizing &amp; Segmentation</a:t>
            </a:r>
            <a:endParaRPr kumimoji="1" lang="ja-JP" altLang="en-US" b="1" dirty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Tex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E7F69254-CE78-4E46-65BD-EA0AA462BC4F}"/>
              </a:ext>
            </a:extLst>
          </p:cNvPr>
          <p:cNvSpPr>
            <a:spLocks noGrp="1"/>
          </p:cNvSpPr>
          <p:nvPr/>
        </p:nvSpPr>
        <p:spPr bwMode="auto">
          <a:xfrm>
            <a:off x="3694111" y="2360614"/>
            <a:ext cx="4651375" cy="407988"/>
          </a:xfrm>
          <a:prstGeom prst="rect">
            <a:avLst/>
          </a:prstGeom>
          <a:solidFill>
            <a:schemeClr val="accent1"/>
          </a:solidFill>
          <a:ln w="38100" algn="ctr">
            <a:solidFill>
              <a:schemeClr val="bg1"/>
            </a:solidFill>
          </a:ln>
          <a:effectLst/>
        </p:spPr>
        <p:txBody>
          <a:bodyPr vert="horz" wrap="none" lIns="82550" tIns="80963" rIns="0" bIns="82550" numCol="1" spcCol="0" rtlCol="0" anchor="ctr" anchorCtr="0">
            <a:noAutofit/>
          </a:bodyPr>
          <a:lstStyle>
            <a:defPPr>
              <a:defRPr lang="ja-JP"/>
            </a:defPPr>
            <a:lvl1pPr marL="187200" indent="-187200" algn="l" defTabSz="914400" rtl="0" eaLnBrk="1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600" kern="1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1pPr>
            <a:lvl2pPr marL="609600" indent="-230188" algn="l" defTabSz="914400" rtl="0" eaLnBrk="1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4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984250" indent="-196850" algn="l" defTabSz="914400" rtl="0" eaLnBrk="1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4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3pPr>
            <a:lvl4pPr marL="1355725" indent="-190500" algn="l" defTabSz="914400" rtl="0" eaLnBrk="1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4pPr>
            <a:lvl5pPr marL="1674813" indent="-184150" algn="l" defTabSz="914400" rtl="0" eaLnBrk="1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5pPr>
            <a:lvl6pPr marL="1990725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altLang="ja-JP" b="1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Competitive Landscape</a:t>
            </a:r>
            <a:endParaRPr kumimoji="1" lang="ja-JP" altLang="en-US" b="1" dirty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Text Placeholder 2">
            <a:hlinkClick r:id="rId4" action="ppaction://hlinksldjump"/>
            <a:extLst>
              <a:ext uri="{FF2B5EF4-FFF2-40B4-BE49-F238E27FC236}">
                <a16:creationId xmlns:a16="http://schemas.microsoft.com/office/drawing/2014/main" id="{50BF9DED-0FFA-29EA-34AD-D497CDDF24C0}"/>
              </a:ext>
            </a:extLst>
          </p:cNvPr>
          <p:cNvSpPr>
            <a:spLocks noGrp="1"/>
          </p:cNvSpPr>
          <p:nvPr/>
        </p:nvSpPr>
        <p:spPr bwMode="auto">
          <a:xfrm>
            <a:off x="3694111" y="2792415"/>
            <a:ext cx="4651375" cy="407988"/>
          </a:xfrm>
          <a:prstGeom prst="rect">
            <a:avLst/>
          </a:prstGeom>
          <a:solidFill>
            <a:schemeClr val="accent1"/>
          </a:solidFill>
          <a:ln w="38100" algn="ctr">
            <a:solidFill>
              <a:schemeClr val="bg1"/>
            </a:solidFill>
          </a:ln>
          <a:effectLst/>
        </p:spPr>
        <p:txBody>
          <a:bodyPr vert="horz" wrap="none" lIns="82550" tIns="80963" rIns="0" bIns="82550" numCol="1" spcCol="0" rtlCol="0" anchor="ctr" anchorCtr="0">
            <a:noAutofit/>
          </a:bodyPr>
          <a:lstStyle>
            <a:defPPr>
              <a:defRPr lang="ja-JP"/>
            </a:defPPr>
            <a:lvl1pPr marL="187200" indent="-187200" algn="l" defTabSz="914400" rtl="0" eaLnBrk="1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600" kern="1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1pPr>
            <a:lvl2pPr marL="609600" indent="-230188" algn="l" defTabSz="914400" rtl="0" eaLnBrk="1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4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984250" indent="-196850" algn="l" defTabSz="914400" rtl="0" eaLnBrk="1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4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3pPr>
            <a:lvl4pPr marL="1355725" indent="-190500" algn="l" defTabSz="914400" rtl="0" eaLnBrk="1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4pPr>
            <a:lvl5pPr marL="1674813" indent="-184150" algn="l" defTabSz="914400" rtl="0" eaLnBrk="1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5pPr>
            <a:lvl6pPr marL="1990725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altLang="ja-JP" b="1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Customer Needs &amp; Adoption Barriers</a:t>
            </a:r>
            <a:endParaRPr kumimoji="1" lang="ja-JP" altLang="en-US" b="1" dirty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Text Placeholder 2">
            <a:hlinkClick r:id="rId5" action="ppaction://hlinksldjump"/>
            <a:extLst>
              <a:ext uri="{FF2B5EF4-FFF2-40B4-BE49-F238E27FC236}">
                <a16:creationId xmlns:a16="http://schemas.microsoft.com/office/drawing/2014/main" id="{8F06DBD0-5B91-F86E-EC9E-55179E048605}"/>
              </a:ext>
            </a:extLst>
          </p:cNvPr>
          <p:cNvSpPr>
            <a:spLocks noGrp="1"/>
          </p:cNvSpPr>
          <p:nvPr/>
        </p:nvSpPr>
        <p:spPr bwMode="auto">
          <a:xfrm>
            <a:off x="3694111" y="3224216"/>
            <a:ext cx="4651375" cy="407988"/>
          </a:xfrm>
          <a:prstGeom prst="rect">
            <a:avLst/>
          </a:prstGeom>
          <a:solidFill>
            <a:schemeClr val="accent1"/>
          </a:solidFill>
          <a:ln w="38100" algn="ctr">
            <a:solidFill>
              <a:schemeClr val="bg1"/>
            </a:solidFill>
          </a:ln>
          <a:effectLst/>
        </p:spPr>
        <p:txBody>
          <a:bodyPr vert="horz" wrap="none" lIns="82550" tIns="80963" rIns="0" bIns="82550" numCol="1" spcCol="0" rtlCol="0" anchor="ctr" anchorCtr="0">
            <a:noAutofit/>
          </a:bodyPr>
          <a:lstStyle>
            <a:defPPr>
              <a:defRPr lang="ja-JP"/>
            </a:defPPr>
            <a:lvl1pPr marL="187200" indent="-187200" algn="l" defTabSz="914400" rtl="0" eaLnBrk="1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600" kern="1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1pPr>
            <a:lvl2pPr marL="609600" indent="-230188" algn="l" defTabSz="914400" rtl="0" eaLnBrk="1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4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984250" indent="-196850" algn="l" defTabSz="914400" rtl="0" eaLnBrk="1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4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3pPr>
            <a:lvl4pPr marL="1355725" indent="-190500" algn="l" defTabSz="914400" rtl="0" eaLnBrk="1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4pPr>
            <a:lvl5pPr marL="1674813" indent="-184150" algn="l" defTabSz="914400" rtl="0" eaLnBrk="1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5pPr>
            <a:lvl6pPr marL="1990725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altLang="ja-JP" b="1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Value Proposition &amp; Positioning</a:t>
            </a:r>
            <a:endParaRPr kumimoji="1" lang="ja-JP" altLang="en-US" b="1" dirty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 Placeholder 2">
            <a:hlinkClick r:id="rId6" action="ppaction://hlinksldjump"/>
            <a:extLst>
              <a:ext uri="{FF2B5EF4-FFF2-40B4-BE49-F238E27FC236}">
                <a16:creationId xmlns:a16="http://schemas.microsoft.com/office/drawing/2014/main" id="{70285C47-CAFD-BE35-E3B2-7C766D94557C}"/>
              </a:ext>
            </a:extLst>
          </p:cNvPr>
          <p:cNvSpPr>
            <a:spLocks noGrp="1"/>
          </p:cNvSpPr>
          <p:nvPr/>
        </p:nvSpPr>
        <p:spPr bwMode="auto">
          <a:xfrm>
            <a:off x="3694111" y="3656017"/>
            <a:ext cx="4651375" cy="407988"/>
          </a:xfrm>
          <a:prstGeom prst="rect">
            <a:avLst/>
          </a:prstGeom>
          <a:solidFill>
            <a:schemeClr val="accent1"/>
          </a:solidFill>
          <a:ln w="38100" algn="ctr">
            <a:solidFill>
              <a:schemeClr val="bg1"/>
            </a:solidFill>
          </a:ln>
          <a:effectLst/>
        </p:spPr>
        <p:txBody>
          <a:bodyPr vert="horz" wrap="none" lIns="82550" tIns="80963" rIns="0" bIns="82550" numCol="1" spcCol="0" rtlCol="0" anchor="ctr" anchorCtr="0">
            <a:noAutofit/>
          </a:bodyPr>
          <a:lstStyle>
            <a:defPPr>
              <a:defRPr lang="ja-JP"/>
            </a:defPPr>
            <a:lvl1pPr marL="187200" indent="-187200" algn="l" defTabSz="914400" rtl="0" eaLnBrk="1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600" kern="1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1pPr>
            <a:lvl2pPr marL="609600" indent="-230188" algn="l" defTabSz="914400" rtl="0" eaLnBrk="1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4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984250" indent="-196850" algn="l" defTabSz="914400" rtl="0" eaLnBrk="1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4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3pPr>
            <a:lvl4pPr marL="1355725" indent="-190500" algn="l" defTabSz="914400" rtl="0" eaLnBrk="1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4pPr>
            <a:lvl5pPr marL="1674813" indent="-184150" algn="l" defTabSz="914400" rtl="0" eaLnBrk="1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5pPr>
            <a:lvl6pPr marL="1990725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altLang="ja-JP" b="1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Channel &amp; Partnership Strategy</a:t>
            </a:r>
            <a:endParaRPr kumimoji="1" lang="ja-JP" altLang="en-US" b="1" dirty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Text Placeholder 2">
            <a:hlinkClick r:id="rId7" action="ppaction://hlinksldjump"/>
            <a:extLst>
              <a:ext uri="{FF2B5EF4-FFF2-40B4-BE49-F238E27FC236}">
                <a16:creationId xmlns:a16="http://schemas.microsoft.com/office/drawing/2014/main" id="{5D35F100-03B5-6A6F-8772-2792801BF3DF}"/>
              </a:ext>
            </a:extLst>
          </p:cNvPr>
          <p:cNvSpPr>
            <a:spLocks noGrp="1"/>
          </p:cNvSpPr>
          <p:nvPr/>
        </p:nvSpPr>
        <p:spPr bwMode="auto">
          <a:xfrm>
            <a:off x="3694111" y="4087818"/>
            <a:ext cx="4651375" cy="407988"/>
          </a:xfrm>
          <a:prstGeom prst="rect">
            <a:avLst/>
          </a:prstGeom>
          <a:solidFill>
            <a:schemeClr val="accent1"/>
          </a:solidFill>
          <a:ln w="38100" algn="ctr">
            <a:solidFill>
              <a:schemeClr val="bg1"/>
            </a:solidFill>
          </a:ln>
          <a:effectLst/>
        </p:spPr>
        <p:txBody>
          <a:bodyPr vert="horz" wrap="none" lIns="82550" tIns="80963" rIns="0" bIns="82550" numCol="1" spcCol="0" rtlCol="0" anchor="ctr" anchorCtr="0">
            <a:noAutofit/>
          </a:bodyPr>
          <a:lstStyle>
            <a:defPPr>
              <a:defRPr lang="ja-JP"/>
            </a:defPPr>
            <a:lvl1pPr marL="187200" indent="-187200" algn="l" defTabSz="914400" rtl="0" eaLnBrk="1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600" kern="1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1pPr>
            <a:lvl2pPr marL="609600" indent="-230188" algn="l" defTabSz="914400" rtl="0" eaLnBrk="1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4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984250" indent="-196850" algn="l" defTabSz="914400" rtl="0" eaLnBrk="1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4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3pPr>
            <a:lvl4pPr marL="1355725" indent="-190500" algn="l" defTabSz="914400" rtl="0" eaLnBrk="1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4pPr>
            <a:lvl5pPr marL="1674813" indent="-184150" algn="l" defTabSz="914400" rtl="0" eaLnBrk="1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5pPr>
            <a:lvl6pPr marL="1990725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altLang="ja-JP" b="1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Pricing &amp; Monetization</a:t>
            </a:r>
            <a:endParaRPr kumimoji="1" lang="ja-JP" altLang="en-US" b="1" dirty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 Placeholder 2">
            <a:hlinkClick r:id="rId8" action="ppaction://hlinksldjump"/>
            <a:extLst>
              <a:ext uri="{FF2B5EF4-FFF2-40B4-BE49-F238E27FC236}">
                <a16:creationId xmlns:a16="http://schemas.microsoft.com/office/drawing/2014/main" id="{FEDA227E-2DC3-414C-851C-B0FD0B4A87C0}"/>
              </a:ext>
            </a:extLst>
          </p:cNvPr>
          <p:cNvSpPr>
            <a:spLocks noGrp="1"/>
          </p:cNvSpPr>
          <p:nvPr/>
        </p:nvSpPr>
        <p:spPr bwMode="auto">
          <a:xfrm>
            <a:off x="3694111" y="4519621"/>
            <a:ext cx="4651375" cy="407988"/>
          </a:xfrm>
          <a:prstGeom prst="rect">
            <a:avLst/>
          </a:prstGeom>
          <a:solidFill>
            <a:schemeClr val="accent1"/>
          </a:solidFill>
          <a:ln w="38100" algn="ctr">
            <a:solidFill>
              <a:schemeClr val="bg1"/>
            </a:solidFill>
          </a:ln>
          <a:effectLst/>
        </p:spPr>
        <p:txBody>
          <a:bodyPr vert="horz" wrap="none" lIns="82550" tIns="80963" rIns="0" bIns="82550" numCol="1" spcCol="0" rtlCol="0" anchor="ctr" anchorCtr="0">
            <a:noAutofit/>
          </a:bodyPr>
          <a:lstStyle>
            <a:defPPr>
              <a:defRPr lang="ja-JP"/>
            </a:defPPr>
            <a:lvl1pPr marL="187200" indent="-187200" algn="l" defTabSz="914400" rtl="0" eaLnBrk="1" latinLnBrk="0" hangingPunct="1">
              <a:lnSpc>
                <a:spcPct val="100000"/>
              </a:lnSpc>
              <a:spcBef>
                <a:spcPts val="576"/>
              </a:spcBef>
              <a:buClr>
                <a:srgbClr val="000F78"/>
              </a:buClr>
              <a:buFont typeface="Wingdings" panose="05000000000000000000" pitchFamily="2" charset="2"/>
              <a:buChar char="n"/>
              <a:defRPr kumimoji="1" sz="1600" kern="1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1pPr>
            <a:lvl2pPr marL="609600" indent="-230188" algn="l" defTabSz="914400" rtl="0" eaLnBrk="1" latinLnBrk="0" hangingPunct="1">
              <a:lnSpc>
                <a:spcPct val="100000"/>
              </a:lnSpc>
              <a:spcBef>
                <a:spcPts val="504"/>
              </a:spcBef>
              <a:buClr>
                <a:srgbClr val="000F78"/>
              </a:buClr>
              <a:buFont typeface="Wingdings" panose="05000000000000000000" pitchFamily="2" charset="2"/>
              <a:buChar char="l"/>
              <a:tabLst/>
              <a:defRPr kumimoji="1" sz="14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984250" indent="-196850" algn="l" defTabSz="914400" rtl="0" eaLnBrk="1" latinLnBrk="0" hangingPunct="1">
              <a:lnSpc>
                <a:spcPct val="100000"/>
              </a:lnSpc>
              <a:spcBef>
                <a:spcPts val="2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4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3pPr>
            <a:lvl4pPr marL="1355725" indent="-190500" algn="l" defTabSz="914400" rtl="0" eaLnBrk="1" latinLnBrk="0" hangingPunct="1">
              <a:lnSpc>
                <a:spcPct val="100000"/>
              </a:lnSpc>
              <a:spcBef>
                <a:spcPts val="216"/>
              </a:spcBef>
              <a:buClr>
                <a:srgbClr val="000F78"/>
              </a:buClr>
              <a:buFont typeface="Yu Gothic UI" panose="020B0500000000000000" pitchFamily="50" charset="-128"/>
              <a:buChar char="•"/>
              <a:tabLst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4pPr>
            <a:lvl5pPr marL="1674813" indent="-184150" algn="l" defTabSz="914400" rtl="0" eaLnBrk="1" latinLnBrk="0" hangingPunct="1">
              <a:lnSpc>
                <a:spcPct val="100000"/>
              </a:lnSpc>
              <a:spcBef>
                <a:spcPts val="144"/>
              </a:spcBef>
              <a:buClr>
                <a:srgbClr val="000F78"/>
              </a:buClr>
              <a:buFont typeface="Arial" panose="020B0604020202020204" pitchFamily="34" charset="0"/>
              <a:buChar char="•"/>
              <a:tabLst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5pPr>
            <a:lvl6pPr marL="1990725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F78"/>
              </a:buClr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altLang="ja-JP" b="1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Key Metrics &amp; Launch Roadmap</a:t>
            </a:r>
            <a:endParaRPr kumimoji="1" lang="ja-JP" altLang="en-US" b="1" dirty="0"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624489-6B1A-523B-79A2-2247CFCA1957}"/>
              </a:ext>
            </a:extLst>
          </p:cNvPr>
          <p:cNvSpPr txBox="1"/>
          <p:nvPr/>
        </p:nvSpPr>
        <p:spPr>
          <a:xfrm>
            <a:off x="10658444" y="6565198"/>
            <a:ext cx="15097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i="1" dirty="0">
                <a:latin typeface="Segoe UI" panose="020B0502040204020203" pitchFamily="34" charset="0"/>
                <a:cs typeface="Segoe UI" panose="020B0502040204020203" pitchFamily="34" charset="0"/>
              </a:rPr>
              <a:t>Prepared by – Sachin Garje</a:t>
            </a:r>
            <a:endParaRPr lang="en-IN" sz="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77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B5854-F596-E2C1-B181-68626B75E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A43E34-9322-5493-3D2D-E11C015F3CB3}"/>
              </a:ext>
            </a:extLst>
          </p:cNvPr>
          <p:cNvSpPr txBox="1"/>
          <p:nvPr/>
        </p:nvSpPr>
        <p:spPr>
          <a:xfrm>
            <a:off x="344424" y="219456"/>
            <a:ext cx="11503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Indonesia's mobile wallet TAM reaches $508M by 2025, with urban middle and high-income users representing ~85% of near-term opportunity</a:t>
            </a:r>
            <a:endParaRPr lang="en-IN" sz="2000" b="1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E8C477-8AE9-DC4C-FE38-AA562171EE64}"/>
              </a:ext>
            </a:extLst>
          </p:cNvPr>
          <p:cNvSpPr txBox="1"/>
          <p:nvPr/>
        </p:nvSpPr>
        <p:spPr>
          <a:xfrm>
            <a:off x="344424" y="6400799"/>
            <a:ext cx="11448000" cy="400110"/>
          </a:xfrm>
          <a:prstGeom prst="rect">
            <a:avLst/>
          </a:prstGeom>
          <a:noFill/>
          <a:ln w="6350" cap="rnd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*ARPU – Annual Revenue Per User</a:t>
            </a:r>
          </a:p>
          <a:p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Sources: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BPS-Statistics Population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Urban Population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Smartphone Penetration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Internet Penetration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6"/>
              </a:rPr>
              <a:t>Income Split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 err="1">
                <a:latin typeface="Segoe UI" panose="020B0502040204020203" pitchFamily="34" charset="0"/>
                <a:cs typeface="Segoe UI" panose="020B0502040204020203" pitchFamily="34" charset="0"/>
                <a:hlinkClick r:id="rId7"/>
              </a:rPr>
              <a:t>GoPay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7"/>
              </a:rPr>
              <a:t> Regional Adoption Rates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8"/>
              </a:rPr>
              <a:t>PCMI</a:t>
            </a:r>
            <a:endParaRPr lang="en-IN" sz="10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A36885-8BDD-5BA7-F354-CF998E64B5C2}"/>
              </a:ext>
            </a:extLst>
          </p:cNvPr>
          <p:cNvSpPr txBox="1"/>
          <p:nvPr/>
        </p:nvSpPr>
        <p:spPr>
          <a:xfrm>
            <a:off x="344424" y="994416"/>
            <a:ext cx="4912067" cy="307777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r>
              <a:rPr kumimoji="1" lang="en-US" sz="14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Estimating TAM for mobile wallets in Indonesia (2025)</a:t>
            </a:r>
            <a:endParaRPr kumimoji="1" lang="en-IN" sz="14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216880-D916-33BF-3940-BDC944AAAFFC}"/>
              </a:ext>
            </a:extLst>
          </p:cNvPr>
          <p:cNvCxnSpPr>
            <a:cxnSpLocks/>
          </p:cNvCxnSpPr>
          <p:nvPr/>
        </p:nvCxnSpPr>
        <p:spPr>
          <a:xfrm>
            <a:off x="449527" y="1296168"/>
            <a:ext cx="46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5A79EA57-9A3F-2472-4BE9-E9893DBD2F3E}"/>
              </a:ext>
            </a:extLst>
          </p:cNvPr>
          <p:cNvGraphicFramePr>
            <a:graphicFrameLocks noGrp="1"/>
          </p:cNvGraphicFramePr>
          <p:nvPr/>
        </p:nvGraphicFramePr>
        <p:xfrm>
          <a:off x="344424" y="3980637"/>
          <a:ext cx="2816949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2949">
                  <a:extLst>
                    <a:ext uri="{9D8B030D-6E8A-4147-A177-3AD203B41FA5}">
                      <a16:colId xmlns:a16="http://schemas.microsoft.com/office/drawing/2014/main" val="411077367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96918783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557822369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1597721734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Income</a:t>
                      </a:r>
                      <a:endParaRPr lang="en-IN" sz="1200" b="1" dirty="0">
                        <a:solidFill>
                          <a:schemeClr val="accent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Wallet</a:t>
                      </a:r>
                      <a:endParaRPr lang="en-IN" sz="1200" b="1" dirty="0">
                        <a:solidFill>
                          <a:schemeClr val="accent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ARPU/month</a:t>
                      </a:r>
                      <a:endParaRPr lang="en-IN" sz="1200" b="1" dirty="0">
                        <a:solidFill>
                          <a:schemeClr val="accent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14216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Low</a:t>
                      </a:r>
                      <a:endParaRPr lang="en-IN" sz="1200" b="1" dirty="0">
                        <a:solidFill>
                          <a:schemeClr val="accent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40%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$0.35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05612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Mid</a:t>
                      </a:r>
                      <a:endParaRPr lang="en-IN" sz="1200" b="1" dirty="0">
                        <a:solidFill>
                          <a:schemeClr val="accent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40%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40%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$0.75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10781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High</a:t>
                      </a:r>
                      <a:endParaRPr lang="en-IN" sz="1200" b="1" dirty="0">
                        <a:solidFill>
                          <a:schemeClr val="accent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60%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$1.85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370648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E61213A4-9EF4-B8E6-3D13-BDBB87E02FFE}"/>
              </a:ext>
            </a:extLst>
          </p:cNvPr>
          <p:cNvGraphicFramePr>
            <a:graphicFrameLocks noGrp="1"/>
          </p:cNvGraphicFramePr>
          <p:nvPr/>
        </p:nvGraphicFramePr>
        <p:xfrm>
          <a:off x="3465391" y="3980637"/>
          <a:ext cx="2816949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2949">
                  <a:extLst>
                    <a:ext uri="{9D8B030D-6E8A-4147-A177-3AD203B41FA5}">
                      <a16:colId xmlns:a16="http://schemas.microsoft.com/office/drawing/2014/main" val="411077367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96918783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557822369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1597721734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Income</a:t>
                      </a:r>
                      <a:endParaRPr lang="en-IN" sz="1200" b="1" dirty="0">
                        <a:solidFill>
                          <a:schemeClr val="accent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Wallet</a:t>
                      </a:r>
                      <a:endParaRPr lang="en-IN" sz="1200" b="1" dirty="0">
                        <a:solidFill>
                          <a:schemeClr val="accent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ARPU/month</a:t>
                      </a:r>
                      <a:endParaRPr lang="en-IN" sz="1200" b="1" dirty="0">
                        <a:solidFill>
                          <a:schemeClr val="accent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14216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Low</a:t>
                      </a:r>
                      <a:endParaRPr lang="en-IN" sz="1200" b="1" dirty="0">
                        <a:solidFill>
                          <a:schemeClr val="accent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$0.12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05612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Mid</a:t>
                      </a:r>
                      <a:endParaRPr lang="en-IN" sz="1200" b="1" dirty="0">
                        <a:solidFill>
                          <a:schemeClr val="accent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40%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30%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$0.25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10781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High</a:t>
                      </a:r>
                      <a:endParaRPr lang="en-IN" sz="1200" b="1" dirty="0">
                        <a:solidFill>
                          <a:schemeClr val="accent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$0.55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370648"/>
                  </a:ext>
                </a:extLst>
              </a:tr>
            </a:tbl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EB974DFC-8348-BA64-2F3D-0E60AC521E58}"/>
              </a:ext>
            </a:extLst>
          </p:cNvPr>
          <p:cNvSpPr txBox="1"/>
          <p:nvPr/>
        </p:nvSpPr>
        <p:spPr>
          <a:xfrm>
            <a:off x="1354350" y="3998138"/>
            <a:ext cx="3036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endParaRPr lang="en-IN" sz="1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87111FF-60AE-062C-ED93-0DE659753B33}"/>
              </a:ext>
            </a:extLst>
          </p:cNvPr>
          <p:cNvSpPr txBox="1"/>
          <p:nvPr/>
        </p:nvSpPr>
        <p:spPr>
          <a:xfrm>
            <a:off x="1962063" y="3998138"/>
            <a:ext cx="3036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endParaRPr lang="en-IN" sz="1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CCEF56A-E616-D630-CB06-900B06ACE529}"/>
              </a:ext>
            </a:extLst>
          </p:cNvPr>
          <p:cNvSpPr txBox="1"/>
          <p:nvPr/>
        </p:nvSpPr>
        <p:spPr>
          <a:xfrm>
            <a:off x="4474283" y="3998138"/>
            <a:ext cx="3036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endParaRPr lang="en-IN" sz="1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ADC65E5-8436-33FF-7A77-D458AA8E4C8C}"/>
              </a:ext>
            </a:extLst>
          </p:cNvPr>
          <p:cNvSpPr txBox="1"/>
          <p:nvPr/>
        </p:nvSpPr>
        <p:spPr>
          <a:xfrm>
            <a:off x="5051279" y="3998138"/>
            <a:ext cx="3036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endParaRPr lang="en-IN" sz="1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55C6159C-E40F-2B16-A9DB-94E353AEE255}"/>
              </a:ext>
            </a:extLst>
          </p:cNvPr>
          <p:cNvCxnSpPr>
            <a:cxnSpLocks/>
          </p:cNvCxnSpPr>
          <p:nvPr/>
        </p:nvCxnSpPr>
        <p:spPr>
          <a:xfrm>
            <a:off x="6867144" y="1194024"/>
            <a:ext cx="0" cy="5069616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646010A-FA6A-0BBB-7C62-F4894878228E}"/>
              </a:ext>
            </a:extLst>
          </p:cNvPr>
          <p:cNvGrpSpPr/>
          <p:nvPr/>
        </p:nvGrpSpPr>
        <p:grpSpPr>
          <a:xfrm>
            <a:off x="512497" y="1244766"/>
            <a:ext cx="6345503" cy="5047942"/>
            <a:chOff x="512497" y="1244766"/>
            <a:chExt cx="6345503" cy="504794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C98B1D3-3F06-AF4B-CC24-89C05B72A4C5}"/>
                </a:ext>
              </a:extLst>
            </p:cNvPr>
            <p:cNvGrpSpPr/>
            <p:nvPr/>
          </p:nvGrpSpPr>
          <p:grpSpPr>
            <a:xfrm>
              <a:off x="512497" y="1585767"/>
              <a:ext cx="6242020" cy="2394870"/>
              <a:chOff x="512497" y="1585767"/>
              <a:chExt cx="6242020" cy="2394870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63DB285-9D2B-70B8-818D-C8BAE5DCC2D1}"/>
                  </a:ext>
                </a:extLst>
              </p:cNvPr>
              <p:cNvSpPr/>
              <p:nvPr/>
            </p:nvSpPr>
            <p:spPr>
              <a:xfrm>
                <a:off x="2356953" y="1647101"/>
                <a:ext cx="1645244" cy="293406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Indonesia Population</a:t>
                </a:r>
                <a:endParaRPr lang="en-IN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B79A8AFF-F7BC-ABC4-67FF-8CEA352F668C}"/>
                  </a:ext>
                </a:extLst>
              </p:cNvPr>
              <p:cNvSpPr/>
              <p:nvPr/>
            </p:nvSpPr>
            <p:spPr>
              <a:xfrm>
                <a:off x="1155037" y="2230485"/>
                <a:ext cx="1123723" cy="293406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Urban : 60%</a:t>
                </a:r>
                <a:endParaRPr lang="en-IN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5A82B333-AF06-2766-B31C-DC943FAB4926}"/>
                  </a:ext>
                </a:extLst>
              </p:cNvPr>
              <p:cNvSpPr/>
              <p:nvPr/>
            </p:nvSpPr>
            <p:spPr>
              <a:xfrm>
                <a:off x="4276004" y="2230485"/>
                <a:ext cx="1123723" cy="293406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Rural : 40%</a:t>
                </a:r>
                <a:endParaRPr lang="en-IN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AA2FE453-BE2B-C56E-F57A-F9EF3032096B}"/>
                  </a:ext>
                </a:extLst>
              </p:cNvPr>
              <p:cNvSpPr/>
              <p:nvPr/>
            </p:nvSpPr>
            <p:spPr>
              <a:xfrm>
                <a:off x="512497" y="2813869"/>
                <a:ext cx="2408802" cy="293406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Smartphone penetration: 74%</a:t>
                </a:r>
                <a:endParaRPr lang="en-IN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B4C781F9-9DE7-62B6-5BC7-A53F3FD810C5}"/>
                  </a:ext>
                </a:extLst>
              </p:cNvPr>
              <p:cNvSpPr/>
              <p:nvPr/>
            </p:nvSpPr>
            <p:spPr>
              <a:xfrm>
                <a:off x="3633464" y="2813869"/>
                <a:ext cx="2408802" cy="293406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Smartphone penetration : 61%</a:t>
                </a:r>
                <a:endParaRPr lang="en-IN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C657C467-AEF5-81AC-A9C5-6C4D8C6173F4}"/>
                  </a:ext>
                </a:extLst>
              </p:cNvPr>
              <p:cNvSpPr/>
              <p:nvPr/>
            </p:nvSpPr>
            <p:spPr>
              <a:xfrm>
                <a:off x="721526" y="3397253"/>
                <a:ext cx="1990745" cy="293406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Internet penetration : 84%</a:t>
                </a:r>
                <a:endParaRPr lang="en-IN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01FCCD6-2004-CFF1-429E-B2BE209A1393}"/>
                  </a:ext>
                </a:extLst>
              </p:cNvPr>
              <p:cNvSpPr/>
              <p:nvPr/>
            </p:nvSpPr>
            <p:spPr>
              <a:xfrm>
                <a:off x="3842493" y="3397253"/>
                <a:ext cx="1990745" cy="293406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Internet penetration : 77%</a:t>
                </a:r>
                <a:endParaRPr lang="en-IN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cxnSp>
            <p:nvCxnSpPr>
              <p:cNvPr id="52" name="Connector: Elbow 51">
                <a:extLst>
                  <a:ext uri="{FF2B5EF4-FFF2-40B4-BE49-F238E27FC236}">
                    <a16:creationId xmlns:a16="http://schemas.microsoft.com/office/drawing/2014/main" id="{4671688E-976D-2749-F3F0-101F7FF4CBC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863731" y="1256350"/>
                <a:ext cx="289978" cy="1658291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A807636D-B8A5-EDA8-F7A1-6623F0CF67D1}"/>
                  </a:ext>
                </a:extLst>
              </p:cNvPr>
              <p:cNvCxnSpPr>
                <a:stCxn id="7" idx="2"/>
                <a:endCxn id="16" idx="0"/>
              </p:cNvCxnSpPr>
              <p:nvPr/>
            </p:nvCxnSpPr>
            <p:spPr>
              <a:xfrm flipH="1">
                <a:off x="1716898" y="2523891"/>
                <a:ext cx="1" cy="2899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DADFA28A-A5A0-DCAB-5012-FDB070DCBF04}"/>
                  </a:ext>
                </a:extLst>
              </p:cNvPr>
              <p:cNvCxnSpPr>
                <a:stCxn id="15" idx="2"/>
                <a:endCxn id="19" idx="0"/>
              </p:cNvCxnSpPr>
              <p:nvPr/>
            </p:nvCxnSpPr>
            <p:spPr>
              <a:xfrm flipH="1">
                <a:off x="4837865" y="2523891"/>
                <a:ext cx="1" cy="2899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343CFC92-4845-8C1E-B891-694B7390930E}"/>
                  </a:ext>
                </a:extLst>
              </p:cNvPr>
              <p:cNvCxnSpPr>
                <a:stCxn id="16" idx="2"/>
                <a:endCxn id="24" idx="0"/>
              </p:cNvCxnSpPr>
              <p:nvPr/>
            </p:nvCxnSpPr>
            <p:spPr>
              <a:xfrm>
                <a:off x="1716898" y="3107275"/>
                <a:ext cx="1" cy="2899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5F0DE1DD-A604-550D-7661-F54EC571CBD4}"/>
                  </a:ext>
                </a:extLst>
              </p:cNvPr>
              <p:cNvCxnSpPr>
                <a:stCxn id="19" idx="2"/>
                <a:endCxn id="26" idx="0"/>
              </p:cNvCxnSpPr>
              <p:nvPr/>
            </p:nvCxnSpPr>
            <p:spPr>
              <a:xfrm>
                <a:off x="4837865" y="3107275"/>
                <a:ext cx="1" cy="2899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BB62BC88-5E24-DDB3-AB35-2216B0D4644D}"/>
                  </a:ext>
                </a:extLst>
              </p:cNvPr>
              <p:cNvCxnSpPr>
                <a:cxnSpLocks/>
              </p:cNvCxnSpPr>
              <p:nvPr/>
            </p:nvCxnSpPr>
            <p:spPr>
              <a:xfrm rot="480000">
                <a:off x="1716899" y="3690659"/>
                <a:ext cx="35999" cy="2899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F147B91C-CF20-88E3-5DBA-6D124F64DE55}"/>
                  </a:ext>
                </a:extLst>
              </p:cNvPr>
              <p:cNvCxnSpPr>
                <a:cxnSpLocks/>
              </p:cNvCxnSpPr>
              <p:nvPr/>
            </p:nvCxnSpPr>
            <p:spPr>
              <a:xfrm rot="480000">
                <a:off x="4837866" y="3690659"/>
                <a:ext cx="35999" cy="2899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nector: Elbow 84">
                <a:extLst>
                  <a:ext uri="{FF2B5EF4-FFF2-40B4-BE49-F238E27FC236}">
                    <a16:creationId xmlns:a16="http://schemas.microsoft.com/office/drawing/2014/main" id="{E585D317-7992-AE6B-2B09-45D768428C59}"/>
                  </a:ext>
                </a:extLst>
              </p:cNvPr>
              <p:cNvCxnSpPr>
                <a:stCxn id="6" idx="2"/>
                <a:endCxn id="7" idx="0"/>
              </p:cNvCxnSpPr>
              <p:nvPr/>
            </p:nvCxnSpPr>
            <p:spPr>
              <a:xfrm rot="5400000">
                <a:off x="2303248" y="1354158"/>
                <a:ext cx="289978" cy="1462676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9A262D7-E03B-C974-D100-34B4B2834803}"/>
                  </a:ext>
                </a:extLst>
              </p:cNvPr>
              <p:cNvSpPr txBox="1"/>
              <p:nvPr/>
            </p:nvSpPr>
            <p:spPr>
              <a:xfrm>
                <a:off x="4059353" y="1663466"/>
                <a:ext cx="715675" cy="246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284.4 M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21A15EC-E958-9C05-19CD-D712EA9A3939}"/>
                  </a:ext>
                </a:extLst>
              </p:cNvPr>
              <p:cNvSpPr/>
              <p:nvPr/>
            </p:nvSpPr>
            <p:spPr>
              <a:xfrm>
                <a:off x="4059357" y="1585767"/>
                <a:ext cx="658516" cy="389450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700" b="1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EB2F219-13AF-CC1C-4A84-D60A5947B889}"/>
                  </a:ext>
                </a:extLst>
              </p:cNvPr>
              <p:cNvSpPr txBox="1"/>
              <p:nvPr/>
            </p:nvSpPr>
            <p:spPr>
              <a:xfrm>
                <a:off x="2337902" y="2253812"/>
                <a:ext cx="715675" cy="246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170.7 M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807DF986-5CF5-D592-A420-BBF8C684280E}"/>
                  </a:ext>
                </a:extLst>
              </p:cNvPr>
              <p:cNvSpPr/>
              <p:nvPr/>
            </p:nvSpPr>
            <p:spPr>
              <a:xfrm>
                <a:off x="2337906" y="2176113"/>
                <a:ext cx="658516" cy="389450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700" b="1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98B1F3B-D01B-7243-44B3-DA93B6F43605}"/>
                  </a:ext>
                </a:extLst>
              </p:cNvPr>
              <p:cNvSpPr txBox="1"/>
              <p:nvPr/>
            </p:nvSpPr>
            <p:spPr>
              <a:xfrm>
                <a:off x="5439813" y="2238260"/>
                <a:ext cx="715675" cy="246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113.8 M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CF78B4B-E91F-7A68-3371-096C7C98CEC6}"/>
                  </a:ext>
                </a:extLst>
              </p:cNvPr>
              <p:cNvSpPr/>
              <p:nvPr/>
            </p:nvSpPr>
            <p:spPr>
              <a:xfrm>
                <a:off x="5439817" y="2160561"/>
                <a:ext cx="658516" cy="389450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700" b="1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0E42C28-6A1B-EE1D-F68A-9C4CE32FB91C}"/>
                  </a:ext>
                </a:extLst>
              </p:cNvPr>
              <p:cNvSpPr txBox="1"/>
              <p:nvPr/>
            </p:nvSpPr>
            <p:spPr>
              <a:xfrm>
                <a:off x="6096001" y="2821644"/>
                <a:ext cx="658516" cy="246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69.2 M</a:t>
                </a: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61EC760C-0C7F-65C6-3872-7B12127D4AAB}"/>
                  </a:ext>
                </a:extLst>
              </p:cNvPr>
              <p:cNvSpPr/>
              <p:nvPr/>
            </p:nvSpPr>
            <p:spPr>
              <a:xfrm>
                <a:off x="6096004" y="2743945"/>
                <a:ext cx="605922" cy="389450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700" b="1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D13BB04-8DE5-3AC9-DD12-804350EB7C03}"/>
                  </a:ext>
                </a:extLst>
              </p:cNvPr>
              <p:cNvSpPr txBox="1"/>
              <p:nvPr/>
            </p:nvSpPr>
            <p:spPr>
              <a:xfrm>
                <a:off x="5877034" y="3426930"/>
                <a:ext cx="650450" cy="246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53.2 M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1CE157FF-72E9-0A3A-9FD0-F23DA51EF467}"/>
                  </a:ext>
                </a:extLst>
              </p:cNvPr>
              <p:cNvSpPr/>
              <p:nvPr/>
            </p:nvSpPr>
            <p:spPr>
              <a:xfrm>
                <a:off x="5877037" y="3349231"/>
                <a:ext cx="598500" cy="389450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700" b="1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75F218D-80D0-DF42-FBF1-E7C12ACC3662}"/>
                  </a:ext>
                </a:extLst>
              </p:cNvPr>
              <p:cNvSpPr txBox="1"/>
              <p:nvPr/>
            </p:nvSpPr>
            <p:spPr>
              <a:xfrm>
                <a:off x="2952906" y="2821644"/>
                <a:ext cx="715675" cy="246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126.5 M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94972395-F255-6798-A3F1-641C09C8E1D7}"/>
                  </a:ext>
                </a:extLst>
              </p:cNvPr>
              <p:cNvSpPr/>
              <p:nvPr/>
            </p:nvSpPr>
            <p:spPr>
              <a:xfrm>
                <a:off x="2952910" y="2743945"/>
                <a:ext cx="658516" cy="389450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700" b="1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8749DE9-836F-6AFF-6BD4-0A600000C8FF}"/>
                  </a:ext>
                </a:extLst>
              </p:cNvPr>
              <p:cNvSpPr txBox="1"/>
              <p:nvPr/>
            </p:nvSpPr>
            <p:spPr>
              <a:xfrm>
                <a:off x="2747997" y="3426930"/>
                <a:ext cx="715675" cy="246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105.7 M</a:t>
                </a: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AA9534EE-19C1-F688-EB1E-393B58F753A2}"/>
                  </a:ext>
                </a:extLst>
              </p:cNvPr>
              <p:cNvSpPr/>
              <p:nvPr/>
            </p:nvSpPr>
            <p:spPr>
              <a:xfrm>
                <a:off x="2748001" y="3349231"/>
                <a:ext cx="658516" cy="389450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700" b="1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2FEA3B8-D8AE-ACD6-3AAB-4EAAE9A3A065}"/>
                </a:ext>
              </a:extLst>
            </p:cNvPr>
            <p:cNvGrpSpPr/>
            <p:nvPr/>
          </p:nvGrpSpPr>
          <p:grpSpPr>
            <a:xfrm>
              <a:off x="1155037" y="5077917"/>
              <a:ext cx="5013181" cy="1214791"/>
              <a:chOff x="1155037" y="5077917"/>
              <a:chExt cx="5013181" cy="1214791"/>
            </a:xfrm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4106AE4C-6FAC-E3C7-9733-9BFEA1AE0580}"/>
                  </a:ext>
                </a:extLst>
              </p:cNvPr>
              <p:cNvSpPr/>
              <p:nvPr/>
            </p:nvSpPr>
            <p:spPr>
              <a:xfrm>
                <a:off x="1155037" y="5367895"/>
                <a:ext cx="1123723" cy="293406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Urban TAM</a:t>
                </a:r>
                <a:endParaRPr lang="en-IN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32712200-34EC-505E-A520-BEFA2A915184}"/>
                  </a:ext>
                </a:extLst>
              </p:cNvPr>
              <p:cNvSpPr/>
              <p:nvPr/>
            </p:nvSpPr>
            <p:spPr>
              <a:xfrm>
                <a:off x="4276004" y="5367895"/>
                <a:ext cx="1123723" cy="293406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Rural TAM</a:t>
                </a:r>
                <a:endParaRPr lang="en-IN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742F191B-1EB3-B012-8FCF-6D8A0D4069F9}"/>
                  </a:ext>
                </a:extLst>
              </p:cNvPr>
              <p:cNvSpPr/>
              <p:nvPr/>
            </p:nvSpPr>
            <p:spPr>
              <a:xfrm>
                <a:off x="2718977" y="5951280"/>
                <a:ext cx="1123723" cy="293406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Total TAM</a:t>
                </a:r>
                <a:endParaRPr lang="en-IN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21C82EB7-D4C5-86A5-8F60-B4E83B8B3779}"/>
                  </a:ext>
                </a:extLst>
              </p:cNvPr>
              <p:cNvCxnSpPr>
                <a:endCxn id="48" idx="0"/>
              </p:cNvCxnSpPr>
              <p:nvPr/>
            </p:nvCxnSpPr>
            <p:spPr>
              <a:xfrm>
                <a:off x="1716897" y="5077917"/>
                <a:ext cx="2" cy="2899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A4AFDE26-36CF-213C-3C74-2176565A5936}"/>
                  </a:ext>
                </a:extLst>
              </p:cNvPr>
              <p:cNvCxnSpPr>
                <a:endCxn id="49" idx="0"/>
              </p:cNvCxnSpPr>
              <p:nvPr/>
            </p:nvCxnSpPr>
            <p:spPr>
              <a:xfrm>
                <a:off x="4837865" y="5077917"/>
                <a:ext cx="1" cy="2899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nector: Elbow 76">
                <a:extLst>
                  <a:ext uri="{FF2B5EF4-FFF2-40B4-BE49-F238E27FC236}">
                    <a16:creationId xmlns:a16="http://schemas.microsoft.com/office/drawing/2014/main" id="{590C8BB2-EA29-8254-622E-18012AA0B175}"/>
                  </a:ext>
                </a:extLst>
              </p:cNvPr>
              <p:cNvCxnSpPr>
                <a:cxnSpLocks/>
                <a:stCxn id="49" idx="2"/>
                <a:endCxn id="50" idx="0"/>
              </p:cNvCxnSpPr>
              <p:nvPr/>
            </p:nvCxnSpPr>
            <p:spPr>
              <a:xfrm rot="5400000">
                <a:off x="3914364" y="5027777"/>
                <a:ext cx="289979" cy="1557027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Connector: Elbow 82">
                <a:extLst>
                  <a:ext uri="{FF2B5EF4-FFF2-40B4-BE49-F238E27FC236}">
                    <a16:creationId xmlns:a16="http://schemas.microsoft.com/office/drawing/2014/main" id="{99FA7CE4-019D-84F6-6253-D782D3D858F7}"/>
                  </a:ext>
                </a:extLst>
              </p:cNvPr>
              <p:cNvCxnSpPr>
                <a:stCxn id="48" idx="2"/>
                <a:endCxn id="50" idx="0"/>
              </p:cNvCxnSpPr>
              <p:nvPr/>
            </p:nvCxnSpPr>
            <p:spPr>
              <a:xfrm rot="16200000" flipH="1">
                <a:off x="2353880" y="5024320"/>
                <a:ext cx="289979" cy="1563940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57EDEFEA-1914-504B-E754-CEEE67C183A0}"/>
                  </a:ext>
                </a:extLst>
              </p:cNvPr>
              <p:cNvSpPr txBox="1"/>
              <p:nvPr/>
            </p:nvSpPr>
            <p:spPr>
              <a:xfrm>
                <a:off x="2328246" y="5387792"/>
                <a:ext cx="7156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b="1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$469.3 M</a:t>
                </a: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41E7758E-4261-5539-E5C4-552525D80B34}"/>
                  </a:ext>
                </a:extLst>
              </p:cNvPr>
              <p:cNvSpPr/>
              <p:nvPr/>
            </p:nvSpPr>
            <p:spPr>
              <a:xfrm>
                <a:off x="2328250" y="5310093"/>
                <a:ext cx="658516" cy="389450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700" b="1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F58F098-426E-FC44-AD97-D794052156B6}"/>
                  </a:ext>
                </a:extLst>
              </p:cNvPr>
              <p:cNvSpPr txBox="1"/>
              <p:nvPr/>
            </p:nvSpPr>
            <p:spPr>
              <a:xfrm>
                <a:off x="5452543" y="5387792"/>
                <a:ext cx="715675" cy="246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$38.6 M</a:t>
                </a: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8F413461-7CB2-AF8A-28D5-4C775A674727}"/>
                  </a:ext>
                </a:extLst>
              </p:cNvPr>
              <p:cNvSpPr/>
              <p:nvPr/>
            </p:nvSpPr>
            <p:spPr>
              <a:xfrm>
                <a:off x="5452547" y="5310093"/>
                <a:ext cx="658516" cy="389450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700" b="1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1D38DCB-5471-00BB-AB12-6C6F941F8EBC}"/>
                  </a:ext>
                </a:extLst>
              </p:cNvPr>
              <p:cNvSpPr txBox="1"/>
              <p:nvPr/>
            </p:nvSpPr>
            <p:spPr>
              <a:xfrm>
                <a:off x="3892766" y="5980957"/>
                <a:ext cx="7156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b="1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$507.9 M</a:t>
                </a: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25C88FD5-C78C-2647-2D3A-86E8A19C469B}"/>
                  </a:ext>
                </a:extLst>
              </p:cNvPr>
              <p:cNvSpPr/>
              <p:nvPr/>
            </p:nvSpPr>
            <p:spPr>
              <a:xfrm>
                <a:off x="3892770" y="5903258"/>
                <a:ext cx="658516" cy="389450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700" b="1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51B50D1-5BFD-658C-AB24-87BA07556616}"/>
                </a:ext>
              </a:extLst>
            </p:cNvPr>
            <p:cNvGrpSpPr/>
            <p:nvPr/>
          </p:nvGrpSpPr>
          <p:grpSpPr>
            <a:xfrm>
              <a:off x="5293533" y="1244766"/>
              <a:ext cx="1564467" cy="461655"/>
              <a:chOff x="5293533" y="1244766"/>
              <a:chExt cx="1564467" cy="461655"/>
            </a:xfrm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A7FA2414-2250-050A-8B77-3CFD2B91A066}"/>
                  </a:ext>
                </a:extLst>
              </p:cNvPr>
              <p:cNvSpPr/>
              <p:nvPr/>
            </p:nvSpPr>
            <p:spPr>
              <a:xfrm>
                <a:off x="5293533" y="1518149"/>
                <a:ext cx="232269" cy="16616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6FC63530-1DEC-47CC-0218-B588915F3E70}"/>
                  </a:ext>
                </a:extLst>
              </p:cNvPr>
              <p:cNvSpPr/>
              <p:nvPr/>
            </p:nvSpPr>
            <p:spPr>
              <a:xfrm>
                <a:off x="5293533" y="1296168"/>
                <a:ext cx="232269" cy="16616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F6A6716-4C40-6EC3-C7BD-35C234FE1DE5}"/>
                  </a:ext>
                </a:extLst>
              </p:cNvPr>
              <p:cNvSpPr txBox="1"/>
              <p:nvPr/>
            </p:nvSpPr>
            <p:spPr>
              <a:xfrm>
                <a:off x="5494829" y="1244766"/>
                <a:ext cx="13631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Source-backed Data</a:t>
                </a:r>
                <a:endParaRPr lang="en-IN" sz="1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D2F324C3-BFEA-D992-016B-97AEA8C1903F}"/>
                  </a:ext>
                </a:extLst>
              </p:cNvPr>
              <p:cNvSpPr txBox="1"/>
              <p:nvPr/>
            </p:nvSpPr>
            <p:spPr>
              <a:xfrm>
                <a:off x="5494701" y="1460200"/>
                <a:ext cx="13631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Assumptions</a:t>
                </a:r>
                <a:endParaRPr lang="en-IN" sz="1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521EC97-76F8-6935-66D2-BC03C6BD9697}"/>
              </a:ext>
            </a:extLst>
          </p:cNvPr>
          <p:cNvGrpSpPr/>
          <p:nvPr/>
        </p:nvGrpSpPr>
        <p:grpSpPr>
          <a:xfrm>
            <a:off x="7084875" y="1194024"/>
            <a:ext cx="4701535" cy="2395436"/>
            <a:chOff x="7369189" y="1970893"/>
            <a:chExt cx="2259786" cy="1097280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1393280-66AA-2143-CD0D-3095D2E22614}"/>
                </a:ext>
              </a:extLst>
            </p:cNvPr>
            <p:cNvSpPr txBox="1"/>
            <p:nvPr/>
          </p:nvSpPr>
          <p:spPr>
            <a:xfrm>
              <a:off x="7532887" y="1970893"/>
              <a:ext cx="2096088" cy="1097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45720" rIns="45720" rtlCol="0" anchor="ctr" anchorCtr="0">
              <a:noAutofit/>
            </a:bodyPr>
            <a:lstStyle/>
            <a:p>
              <a:pPr marL="112713" indent="-112713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kumimoji="1" lang="en-US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Population and penetration figures are sourced directly from BPS Indonesia and the APJII Survey 2025, not estimated.</a:t>
              </a:r>
            </a:p>
            <a:p>
              <a:pPr marL="112713" indent="-112713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kumimoji="1" lang="en-US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Wallet adoption rates reflect real-world income-linked behavior. Urban high-income users are assumed to adopt wallets at 60% — consistent with </a:t>
              </a:r>
              <a:r>
                <a:rPr kumimoji="1" lang="en-US" sz="1200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GoPay's</a:t>
              </a:r>
              <a:r>
                <a:rPr kumimoji="1" lang="en-US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 published regional adoption data.</a:t>
              </a:r>
            </a:p>
            <a:p>
              <a:pPr marL="112713" indent="-112713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kumimoji="1" lang="en-US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Monthly ARPU is derived from three revenue streams: e-commerce wallet share (~$0.18), QRIS daily transactions at Bank Indonesia's standard 0.7% MDR (~$0.14), and value-added services like BNPL/credit commissions (~$0.20). 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47CC16E2-BAAB-82F5-A561-82F3992A5ACC}"/>
                </a:ext>
              </a:extLst>
            </p:cNvPr>
            <p:cNvSpPr txBox="1"/>
            <p:nvPr/>
          </p:nvSpPr>
          <p:spPr>
            <a:xfrm>
              <a:off x="7369189" y="1970893"/>
              <a:ext cx="163698" cy="109728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vert="vert270" wrap="square" lIns="45720" rIns="45720" rtlCol="0" anchor="ctr" anchorCtr="0">
              <a:noAutofit/>
            </a:bodyPr>
            <a:lstStyle/>
            <a:p>
              <a:pPr algn="ctr">
                <a:spcBef>
                  <a:spcPts val="200"/>
                </a:spcBef>
                <a:spcAft>
                  <a:spcPts val="200"/>
                </a:spcAft>
              </a:pPr>
              <a:r>
                <a:rPr kumimoji="1" lang="en-US" sz="1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Assumptions</a:t>
              </a:r>
              <a:endParaRPr kumimoji="1" lang="en-IN" sz="14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8FF3A89-A017-BD4C-77E3-86A313A938BC}"/>
              </a:ext>
            </a:extLst>
          </p:cNvPr>
          <p:cNvGrpSpPr/>
          <p:nvPr/>
        </p:nvGrpSpPr>
        <p:grpSpPr>
          <a:xfrm>
            <a:off x="7084875" y="3834650"/>
            <a:ext cx="4701535" cy="2300973"/>
            <a:chOff x="7369189" y="1970893"/>
            <a:chExt cx="2259786" cy="1097280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87D99A3-9453-21AE-E288-565863B684B9}"/>
                </a:ext>
              </a:extLst>
            </p:cNvPr>
            <p:cNvSpPr txBox="1"/>
            <p:nvPr/>
          </p:nvSpPr>
          <p:spPr>
            <a:xfrm>
              <a:off x="7532887" y="1970893"/>
              <a:ext cx="2096088" cy="10972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45720" rIns="45720" rtlCol="0" anchor="ctr" anchorCtr="0">
              <a:noAutofit/>
            </a:bodyPr>
            <a:lstStyle/>
            <a:p>
              <a:pPr marL="112713" indent="-112713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kumimoji="1" lang="en-US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92% of total TAM comes from urban cities. The </a:t>
              </a:r>
              <a:r>
                <a:rPr kumimoji="1"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urban market </a:t>
              </a:r>
              <a:r>
                <a:rPr kumimoji="1" lang="en-US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is more accessible because merchant density, smartphone penetration, and digital payment habits already exist. Rural is a long-term inclusion play, not a launch market.</a:t>
              </a:r>
            </a:p>
            <a:p>
              <a:pPr marL="112713" indent="-112713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kumimoji="1"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Urban middle and high-income </a:t>
              </a:r>
              <a:r>
                <a:rPr kumimoji="1" lang="en-US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users represent ~85% of near-term revenue driven by high adoption rates and ARPU.</a:t>
              </a:r>
            </a:p>
            <a:p>
              <a:pPr marL="112713" indent="-112713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kumimoji="1"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ARPU growth </a:t>
              </a:r>
              <a:r>
                <a:rPr kumimoji="1" lang="en-US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is the real lever, not user volume. The difference between a low- and high-income urban wallet user is roughly 5× in monthly revenue ($0.35 vs. $1.85). As users move up the income ladder, wallet rev per user compounds.</a:t>
              </a:r>
              <a:endParaRPr kumimoji="1" lang="en-IN" sz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BE173158-5A46-4242-2C4F-AE11CCBDB20A}"/>
                </a:ext>
              </a:extLst>
            </p:cNvPr>
            <p:cNvSpPr txBox="1"/>
            <p:nvPr/>
          </p:nvSpPr>
          <p:spPr>
            <a:xfrm>
              <a:off x="7369189" y="1970893"/>
              <a:ext cx="163698" cy="109728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vert="vert270" wrap="square" lIns="45720" rIns="45720" rtlCol="0" anchor="ctr" anchorCtr="0">
              <a:noAutofit/>
            </a:bodyPr>
            <a:lstStyle/>
            <a:p>
              <a:pPr algn="ctr">
                <a:spcBef>
                  <a:spcPts val="200"/>
                </a:spcBef>
                <a:spcAft>
                  <a:spcPts val="200"/>
                </a:spcAft>
              </a:pPr>
              <a:r>
                <a:rPr kumimoji="1" lang="en-US" sz="1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Key Takeaways</a:t>
              </a:r>
              <a:endParaRPr kumimoji="1" lang="en-IN" sz="14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F2E5D3C-8E68-C986-4604-87EBC3C6B92C}"/>
              </a:ext>
            </a:extLst>
          </p:cNvPr>
          <p:cNvSpPr txBox="1"/>
          <p:nvPr/>
        </p:nvSpPr>
        <p:spPr>
          <a:xfrm>
            <a:off x="10658444" y="6565198"/>
            <a:ext cx="15097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i="1" dirty="0">
                <a:latin typeface="Segoe UI" panose="020B0502040204020203" pitchFamily="34" charset="0"/>
                <a:cs typeface="Segoe UI" panose="020B0502040204020203" pitchFamily="34" charset="0"/>
              </a:rPr>
              <a:t>Prepared by – Sachin Garje</a:t>
            </a:r>
            <a:endParaRPr lang="en-IN" sz="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727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F1276A-98F1-A962-BA12-94AD35B1C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8" y="722035"/>
            <a:ext cx="9382124" cy="59963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F9BDEE-41CD-575E-4FB9-DB9E8962019C}"/>
              </a:ext>
            </a:extLst>
          </p:cNvPr>
          <p:cNvSpPr txBox="1"/>
          <p:nvPr/>
        </p:nvSpPr>
        <p:spPr>
          <a:xfrm>
            <a:off x="344424" y="219456"/>
            <a:ext cx="11503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Snapshot from Excel Spreadsheet – ARPU Calculation</a:t>
            </a:r>
            <a:endParaRPr lang="en-IN" sz="2000" b="1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95BB5D-FF29-8199-C878-6D2541D20B0F}"/>
              </a:ext>
            </a:extLst>
          </p:cNvPr>
          <p:cNvSpPr txBox="1"/>
          <p:nvPr/>
        </p:nvSpPr>
        <p:spPr>
          <a:xfrm>
            <a:off x="10658444" y="6565198"/>
            <a:ext cx="15097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i="1" dirty="0">
                <a:latin typeface="Segoe UI" panose="020B0502040204020203" pitchFamily="34" charset="0"/>
                <a:cs typeface="Segoe UI" panose="020B0502040204020203" pitchFamily="34" charset="0"/>
              </a:rPr>
              <a:t>Prepared by – Sachin Garje</a:t>
            </a:r>
            <a:endParaRPr lang="en-IN" sz="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510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92F2F-A95A-121D-9F67-35EEEC8B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6BA0D3-F928-4DB6-A136-3446DD9CDA1D}"/>
              </a:ext>
            </a:extLst>
          </p:cNvPr>
          <p:cNvSpPr txBox="1"/>
          <p:nvPr/>
        </p:nvSpPr>
        <p:spPr>
          <a:xfrm>
            <a:off x="344424" y="219456"/>
            <a:ext cx="11503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GoPay</a:t>
            </a:r>
            <a:r>
              <a:rPr lang="en-US" sz="20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, OVO, and DANA collectively cover 80%+ of the market — but each is anchored to a single ecosystem, leaving gaps in neutral, cross-platform users</a:t>
            </a:r>
            <a:endParaRPr lang="en-IN" sz="2000" b="1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3995DC-354C-9DBD-F2DE-E4EC9B16BA2C}"/>
              </a:ext>
            </a:extLst>
          </p:cNvPr>
          <p:cNvSpPr txBox="1"/>
          <p:nvPr/>
        </p:nvSpPr>
        <p:spPr>
          <a:xfrm>
            <a:off x="344424" y="6400799"/>
            <a:ext cx="11448000" cy="246221"/>
          </a:xfrm>
          <a:prstGeom prst="rect">
            <a:avLst/>
          </a:prstGeom>
          <a:noFill/>
          <a:ln w="6350" cap="rnd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Sources: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User engagement trends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Usage rates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Wallet share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 err="1"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GoPay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 statistics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6"/>
              </a:rPr>
              <a:t>Snapshot of top e-wallets in Indonesia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7"/>
              </a:rPr>
              <a:t>Top digital payment methods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8"/>
              </a:rPr>
              <a:t>Indonesia mobile wallet market assessment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9"/>
              </a:rPr>
              <a:t>MAUs</a:t>
            </a:r>
            <a:endParaRPr lang="en-IN" sz="10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2CB078-1D29-6137-40A5-A985701B7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744337"/>
              </p:ext>
            </p:extLst>
          </p:nvPr>
        </p:nvGraphicFramePr>
        <p:xfrm>
          <a:off x="344424" y="1026160"/>
          <a:ext cx="11448000" cy="45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3560">
                  <a:extLst>
                    <a:ext uri="{9D8B030D-6E8A-4147-A177-3AD203B41FA5}">
                      <a16:colId xmlns:a16="http://schemas.microsoft.com/office/drawing/2014/main" val="2063824677"/>
                    </a:ext>
                  </a:extLst>
                </a:gridCol>
                <a:gridCol w="3211480">
                  <a:extLst>
                    <a:ext uri="{9D8B030D-6E8A-4147-A177-3AD203B41FA5}">
                      <a16:colId xmlns:a16="http://schemas.microsoft.com/office/drawing/2014/main" val="4079052540"/>
                    </a:ext>
                  </a:extLst>
                </a:gridCol>
                <a:gridCol w="3211480">
                  <a:extLst>
                    <a:ext uri="{9D8B030D-6E8A-4147-A177-3AD203B41FA5}">
                      <a16:colId xmlns:a16="http://schemas.microsoft.com/office/drawing/2014/main" val="1653036542"/>
                    </a:ext>
                  </a:extLst>
                </a:gridCol>
                <a:gridCol w="3211480">
                  <a:extLst>
                    <a:ext uri="{9D8B030D-6E8A-4147-A177-3AD203B41FA5}">
                      <a16:colId xmlns:a16="http://schemas.microsoft.com/office/drawing/2014/main" val="2988686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GoPay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OVO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DANA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Parent Company</a:t>
                      </a:r>
                      <a:endParaRPr lang="en-IN" sz="1200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GoTo</a:t>
                      </a: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Group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Grab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Emtek</a:t>
                      </a: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+ Ant Financial 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745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Usage rates</a:t>
                      </a:r>
                      <a:endParaRPr lang="en-IN" sz="1200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71 - 88%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70 - 78%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61 - 83%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Registered Users</a:t>
                      </a:r>
                      <a:endParaRPr lang="en-IN" sz="1200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60+ million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~115 M devices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140-180 million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366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Monthly Active Users</a:t>
                      </a:r>
                      <a:endParaRPr lang="en-IN" sz="1200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18.1 million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21.5 million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58.7 million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Core value proposition</a:t>
                      </a:r>
                      <a:endParaRPr lang="en-IN" sz="1200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Integrated with Gojek super app ecosystem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Rewards system – OVO points redeemable in cash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Indonesia's "Alipay" – positioned as open platform, wallet for financial management</a:t>
                      </a: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244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Use cases</a:t>
                      </a:r>
                      <a:endParaRPr lang="en-IN" sz="1200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Mobility-linked, delivery and commerce</a:t>
                      </a: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Ecommerce buyers, offline purchase in major retail chains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Digital wallet for everyday Indonesians – utilities, retail, online marketplace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101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Regulatory ties</a:t>
                      </a:r>
                      <a:endParaRPr lang="en-IN" sz="1200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All three licensed as e-money issuers by Bank Indonesia, QRIS compliant, involved in Government programs (Kartu </a:t>
                      </a:r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Prakerja</a:t>
                      </a: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initiative, PEN-</a:t>
                      </a:r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Pemulihan</a:t>
                      </a: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Ekonomi Nasional)  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08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Strengths</a:t>
                      </a:r>
                      <a:endParaRPr lang="en-IN" sz="1200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Strongest merchant network 900,000+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Sharia-compliant savings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AI voice assistant Dira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Offers financing solutions like </a:t>
                      </a:r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GoPay</a:t>
                      </a: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Borrow and </a:t>
                      </a:r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GoPay</a:t>
                      </a: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Later</a:t>
                      </a: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Strongest loyalty program in market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Best offline merchant networks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OVO collaborates with </a:t>
                      </a:r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Superbank</a:t>
                      </a: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to deliver deposit, loan, and investment products.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Cross-border payment support in Malaysia, Singapore, and Thailand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Offers a range of services from investment access to bill splitting.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717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Weakness</a:t>
                      </a:r>
                      <a:endParaRPr lang="en-IN" sz="1200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Ecosystem dependent (Gojek–Tokopedia)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Functionality only limited to Indonesian market</a:t>
                      </a: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OVO's user presence has remained stable – flat growth is a concern in a market still expanding rapidly.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Rewards model is expensive to sustain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 proprietary super-app to drive organic daily habit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Dependent on third-party integrations (tiket.com) for transaction frequency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4559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BE24192-D713-EB09-F372-40FA0D5C6322}"/>
              </a:ext>
            </a:extLst>
          </p:cNvPr>
          <p:cNvSpPr txBox="1"/>
          <p:nvPr/>
        </p:nvSpPr>
        <p:spPr>
          <a:xfrm>
            <a:off x="1252728" y="5675986"/>
            <a:ext cx="10539696" cy="669608"/>
          </a:xfrm>
          <a:prstGeom prst="roundRect">
            <a:avLst>
              <a:gd name="adj" fmla="val 2232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No single player exceeds ~25% market share. The market remains genuinely contestable — but entry requires QRIS compliance, OJK licensing, and a clear answer to the question: 'Why would a user open a 4th wallet?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Graphic 6" descr="Right pointing backhand index with solid fill">
            <a:extLst>
              <a:ext uri="{FF2B5EF4-FFF2-40B4-BE49-F238E27FC236}">
                <a16:creationId xmlns:a16="http://schemas.microsoft.com/office/drawing/2014/main" id="{BD5ACA44-BD0B-F143-8540-7ABA8FB23F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864" y="5671655"/>
            <a:ext cx="720000" cy="72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F374BF-16C1-C37D-40DF-4A39F9751864}"/>
              </a:ext>
            </a:extLst>
          </p:cNvPr>
          <p:cNvSpPr txBox="1"/>
          <p:nvPr/>
        </p:nvSpPr>
        <p:spPr>
          <a:xfrm>
            <a:off x="10658444" y="6565198"/>
            <a:ext cx="15097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i="1" dirty="0">
                <a:latin typeface="Segoe UI" panose="020B0502040204020203" pitchFamily="34" charset="0"/>
                <a:cs typeface="Segoe UI" panose="020B0502040204020203" pitchFamily="34" charset="0"/>
              </a:rPr>
              <a:t>Prepared by – Sachin Garje</a:t>
            </a:r>
            <a:endParaRPr lang="en-IN" sz="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355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14E00-945B-CE37-1030-0FD998D7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D09D21-E4B9-CBFB-27F9-38F2AA6B55D8}"/>
              </a:ext>
            </a:extLst>
          </p:cNvPr>
          <p:cNvSpPr txBox="1"/>
          <p:nvPr/>
        </p:nvSpPr>
        <p:spPr>
          <a:xfrm>
            <a:off x="344424" y="219456"/>
            <a:ext cx="11503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Security, Reliability and Onboarding are the three friction points incumbents have failed to solve — validate these via primary research before finalizing GTM positioning</a:t>
            </a:r>
            <a:endParaRPr lang="en-IN" sz="2000" b="1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499C5D-2E40-FA3E-8401-D78BE9A38B83}"/>
              </a:ext>
            </a:extLst>
          </p:cNvPr>
          <p:cNvSpPr txBox="1"/>
          <p:nvPr/>
        </p:nvSpPr>
        <p:spPr>
          <a:xfrm>
            <a:off x="344424" y="6400799"/>
            <a:ext cx="11448000" cy="246221"/>
          </a:xfrm>
          <a:prstGeom prst="rect">
            <a:avLst/>
          </a:prstGeom>
          <a:noFill/>
          <a:ln w="6350" cap="rnd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Sources: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Study on user satisfaction in Indonesia’s e-wallet market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Study on Challenges and Perceptions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Study on adoption of e-wallet in Indonesia</a:t>
            </a:r>
            <a:endParaRPr lang="en-IN" sz="10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A25DBF-B0C7-833E-18D8-63C02384AD35}"/>
              </a:ext>
            </a:extLst>
          </p:cNvPr>
          <p:cNvSpPr/>
          <p:nvPr/>
        </p:nvSpPr>
        <p:spPr>
          <a:xfrm rot="16200000">
            <a:off x="-1976091" y="3462104"/>
            <a:ext cx="5076000" cy="3594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Consumer Pain Points</a:t>
            </a: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897486-81D4-9BFE-A737-163BF7078813}"/>
              </a:ext>
            </a:extLst>
          </p:cNvPr>
          <p:cNvSpPr/>
          <p:nvPr/>
        </p:nvSpPr>
        <p:spPr>
          <a:xfrm>
            <a:off x="850604" y="1103842"/>
            <a:ext cx="1807534" cy="1598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Security and Fraud</a:t>
            </a:r>
            <a:endParaRPr lang="en-IN" sz="1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439AF0-A0A9-E85B-56DB-74B034CC7FE4}"/>
              </a:ext>
            </a:extLst>
          </p:cNvPr>
          <p:cNvSpPr/>
          <p:nvPr/>
        </p:nvSpPr>
        <p:spPr>
          <a:xfrm>
            <a:off x="850604" y="2843238"/>
            <a:ext cx="1807534" cy="1598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Reliability &amp; Customer Support</a:t>
            </a:r>
            <a:endParaRPr lang="en-IN" sz="1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823B4F-E1DF-6B12-4998-AA28F9FA11D8}"/>
              </a:ext>
            </a:extLst>
          </p:cNvPr>
          <p:cNvSpPr/>
          <p:nvPr/>
        </p:nvSpPr>
        <p:spPr>
          <a:xfrm>
            <a:off x="850604" y="4582633"/>
            <a:ext cx="1807534" cy="15972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Onboarding &amp; Verification</a:t>
            </a:r>
            <a:endParaRPr lang="en-IN" sz="1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05601E-AA3F-0063-FE8E-468AA844FDE2}"/>
              </a:ext>
            </a:extLst>
          </p:cNvPr>
          <p:cNvSpPr txBox="1"/>
          <p:nvPr/>
        </p:nvSpPr>
        <p:spPr>
          <a:xfrm>
            <a:off x="2767094" y="1103842"/>
            <a:ext cx="4388400" cy="1598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rIns="72000" rtlCol="0" anchor="ctr" anchorCtr="0">
            <a:noAutofit/>
          </a:bodyPr>
          <a:lstStyle/>
          <a:p>
            <a:pPr marL="112713" indent="-112713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Across </a:t>
            </a:r>
            <a:r>
              <a:rPr kumimoji="1"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GoPay</a:t>
            </a: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, OVO, and Dana, security emerged as the single highest-priority improvement factor in user satisfaction research.</a:t>
            </a:r>
          </a:p>
          <a:p>
            <a:pPr marL="112713" indent="-112713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Issues like sudden balance deduction; cyberattacks such as phishing and OTP fraud were a major concern.</a:t>
            </a:r>
          </a:p>
          <a:p>
            <a:pPr marL="112713" indent="-112713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Wallets are optimized for transaction speed and frequency</a:t>
            </a:r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—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security layer gets lost in the UX noise.</a:t>
            </a:r>
            <a:endParaRPr kumimoji="1"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7699A9-2D52-1F97-154A-F3C9AEACEFA3}"/>
              </a:ext>
            </a:extLst>
          </p:cNvPr>
          <p:cNvSpPr txBox="1"/>
          <p:nvPr/>
        </p:nvSpPr>
        <p:spPr>
          <a:xfrm>
            <a:off x="2767094" y="2842642"/>
            <a:ext cx="4388400" cy="1598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rIns="72000" rtlCol="0" anchor="ctr" anchorCtr="0">
            <a:noAutofit/>
          </a:bodyPr>
          <a:lstStyle/>
          <a:p>
            <a:pPr marL="112713" indent="-112713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Customer service provide generic responses rather than resolving actual financial discrepancies.</a:t>
            </a:r>
          </a:p>
          <a:p>
            <a:pPr marL="112713" indent="-112713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A “successful but missing" transaction problem creates a massive trust crisis between the user and the platform. </a:t>
            </a:r>
          </a:p>
          <a:p>
            <a:pPr marL="112713" indent="-112713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Frequent crashes and login failures during busy hours raises serious reliability concerns.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5D0F1D-3299-3C8F-D315-B868CF5AAAE0}"/>
              </a:ext>
            </a:extLst>
          </p:cNvPr>
          <p:cNvSpPr txBox="1"/>
          <p:nvPr/>
        </p:nvSpPr>
        <p:spPr>
          <a:xfrm>
            <a:off x="2767094" y="4581443"/>
            <a:ext cx="4388400" cy="1598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rIns="72000" rtlCol="0" anchor="ctr" anchorCtr="0">
            <a:noAutofit/>
          </a:bodyPr>
          <a:lstStyle/>
          <a:p>
            <a:pPr marL="112713" indent="-112713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Delays in the e-KYC process prevent users from accessing core features like transfers or higher balance limits, leading to early abandonment of the app.</a:t>
            </a:r>
          </a:p>
          <a:p>
            <a:pPr marL="112713" indent="-112713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Users often face technical glitches during document uploads (like ID photos) creating a "bottleneck" at the very start of the user journey.</a:t>
            </a:r>
          </a:p>
        </p:txBody>
      </p:sp>
      <p:pic>
        <p:nvPicPr>
          <p:cNvPr id="16" name="Graphic 15" descr="Employee badge with solid fill">
            <a:extLst>
              <a:ext uri="{FF2B5EF4-FFF2-40B4-BE49-F238E27FC236}">
                <a16:creationId xmlns:a16="http://schemas.microsoft.com/office/drawing/2014/main" id="{F6DBF00B-820C-AA20-48F4-B89208C2C0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1712" y="4800587"/>
            <a:ext cx="720000" cy="720000"/>
          </a:xfrm>
          <a:prstGeom prst="rect">
            <a:avLst/>
          </a:prstGeom>
        </p:spPr>
      </p:pic>
      <p:pic>
        <p:nvPicPr>
          <p:cNvPr id="18" name="Graphic 17" descr="Lock with solid fill">
            <a:extLst>
              <a:ext uri="{FF2B5EF4-FFF2-40B4-BE49-F238E27FC236}">
                <a16:creationId xmlns:a16="http://schemas.microsoft.com/office/drawing/2014/main" id="{3D0A0B6B-3AEE-2528-57AB-81D554FE2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1712" y="1337413"/>
            <a:ext cx="720000" cy="720000"/>
          </a:xfrm>
          <a:prstGeom prst="rect">
            <a:avLst/>
          </a:prstGeom>
        </p:spPr>
      </p:pic>
      <p:pic>
        <p:nvPicPr>
          <p:cNvPr id="20" name="Graphic 19" descr="Target Audience with solid fill">
            <a:extLst>
              <a:ext uri="{FF2B5EF4-FFF2-40B4-BE49-F238E27FC236}">
                <a16:creationId xmlns:a16="http://schemas.microsoft.com/office/drawing/2014/main" id="{696132B3-3B46-13E8-D0FC-1CE7D141B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81712" y="3069000"/>
            <a:ext cx="720000" cy="720000"/>
          </a:xfrm>
          <a:prstGeom prst="rect">
            <a:avLst/>
          </a:prstGeom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53BF932B-2540-31A1-8B98-502D59BB6F40}"/>
              </a:ext>
            </a:extLst>
          </p:cNvPr>
          <p:cNvSpPr/>
          <p:nvPr/>
        </p:nvSpPr>
        <p:spPr>
          <a:xfrm rot="5400000">
            <a:off x="6770462" y="3471556"/>
            <a:ext cx="1260000" cy="2160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720FC3-0FC6-C488-AA55-C3D05594AC4D}"/>
              </a:ext>
            </a:extLst>
          </p:cNvPr>
          <p:cNvSpPr txBox="1"/>
          <p:nvPr/>
        </p:nvSpPr>
        <p:spPr>
          <a:xfrm>
            <a:off x="7761766" y="2018245"/>
            <a:ext cx="4030657" cy="3356134"/>
          </a:xfrm>
          <a:prstGeom prst="roundRect">
            <a:avLst>
              <a:gd name="adj" fmla="val 3165"/>
            </a:avLst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Quantitative survey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to size the scale of consumer pain points in existing offerings.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Platform: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JakPat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or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Populix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Sample: 300-400 respondents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Output: Prioritized pain points ranking with statistical significance.</a:t>
            </a:r>
          </a:p>
          <a:p>
            <a:pPr lvl="1"/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Qualitative survey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to understand the improvement areas and feed product roadmap plans.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Platform: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Populix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or local agency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Sample: 15-20 depth interviews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Output: Verbatim quotes + specific data points on building trust and transparency.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DBAA77-4EE9-B510-115A-07EDDCEFBE82}"/>
              </a:ext>
            </a:extLst>
          </p:cNvPr>
          <p:cNvSpPr txBox="1"/>
          <p:nvPr/>
        </p:nvSpPr>
        <p:spPr>
          <a:xfrm>
            <a:off x="7676118" y="1557946"/>
            <a:ext cx="3690508" cy="307777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r>
              <a:rPr kumimoji="1" lang="en-US" sz="14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Primary Research Methods to Consider</a:t>
            </a:r>
            <a:endParaRPr kumimoji="1" lang="en-IN" sz="14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2E0BC01-3AC2-A9FA-AB32-38DF0AC8DD6A}"/>
              </a:ext>
            </a:extLst>
          </p:cNvPr>
          <p:cNvCxnSpPr>
            <a:cxnSpLocks/>
          </p:cNvCxnSpPr>
          <p:nvPr/>
        </p:nvCxnSpPr>
        <p:spPr>
          <a:xfrm>
            <a:off x="7766953" y="1859698"/>
            <a:ext cx="399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183EEE2-DB99-8C02-8024-32BB8E9CDABB}"/>
              </a:ext>
            </a:extLst>
          </p:cNvPr>
          <p:cNvSpPr txBox="1"/>
          <p:nvPr/>
        </p:nvSpPr>
        <p:spPr>
          <a:xfrm>
            <a:off x="10658444" y="6565198"/>
            <a:ext cx="15097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i="1" dirty="0">
                <a:latin typeface="Segoe UI" panose="020B0502040204020203" pitchFamily="34" charset="0"/>
                <a:cs typeface="Segoe UI" panose="020B0502040204020203" pitchFamily="34" charset="0"/>
              </a:rPr>
              <a:t>Prepared by – Sachin Garje</a:t>
            </a:r>
            <a:endParaRPr lang="en-IN" sz="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395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F8676-BFF5-EE40-CE6A-E386C7B48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FFC68F-9048-5BC6-B5EA-C30413964655}"/>
              </a:ext>
            </a:extLst>
          </p:cNvPr>
          <p:cNvSpPr txBox="1"/>
          <p:nvPr/>
        </p:nvSpPr>
        <p:spPr>
          <a:xfrm>
            <a:off x="344424" y="219456"/>
            <a:ext cx="11503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Incumbents compete on ecosystem lock-in; the underserved gap is trust, transparency, and cross-border utility for the urban professional segment</a:t>
            </a:r>
            <a:endParaRPr lang="en-IN" sz="2000" b="1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79C189-9CC3-22BE-05A0-4E87B20A19C5}"/>
              </a:ext>
            </a:extLst>
          </p:cNvPr>
          <p:cNvSpPr txBox="1"/>
          <p:nvPr/>
        </p:nvSpPr>
        <p:spPr>
          <a:xfrm>
            <a:off x="1252728" y="5144352"/>
            <a:ext cx="10539696" cy="951548"/>
          </a:xfrm>
          <a:prstGeom prst="roundRect">
            <a:avLst>
              <a:gd name="adj" fmla="val 2232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Don't compete with the incumbents on their own turf. Instead, position as the wallet for Indonesians who are mobile, professional, and cross-border.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Focus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on seamless SGD↔IDR transfers, build trust (digital wallet in use by 200,000 users in Singapore), compete on the experience layer rather than merchant network.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2" name="Graphic 31" descr="Right pointing backhand index with solid fill">
            <a:extLst>
              <a:ext uri="{FF2B5EF4-FFF2-40B4-BE49-F238E27FC236}">
                <a16:creationId xmlns:a16="http://schemas.microsoft.com/office/drawing/2014/main" id="{D2A61305-1415-D362-3AC8-EC7189BC67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864" y="5260126"/>
            <a:ext cx="720000" cy="720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18A83FE-FE98-118C-1792-AED9EC6C304C}"/>
              </a:ext>
            </a:extLst>
          </p:cNvPr>
          <p:cNvSpPr txBox="1"/>
          <p:nvPr/>
        </p:nvSpPr>
        <p:spPr>
          <a:xfrm>
            <a:off x="6589410" y="1456660"/>
            <a:ext cx="5197000" cy="29590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rIns="72000" rtlCol="0" anchor="ctr" anchorCtr="0">
            <a:noAutofit/>
          </a:bodyPr>
          <a:lstStyle/>
          <a:p>
            <a:pPr marL="112713" indent="-112713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The Premium Gap</a:t>
            </a: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: Incumbents are focused on local, everyday spending, leaving the high-value cross-border market wide open for a specialized player.</a:t>
            </a:r>
          </a:p>
          <a:p>
            <a:pPr marL="112713" indent="-112713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Infrastructure Parity</a:t>
            </a: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: Since QRIS is universal and affordable, merchant acceptance is no longer a competitive advantage—success depends on the user experience and unique/distinct features.</a:t>
            </a:r>
          </a:p>
          <a:p>
            <a:pPr marL="112713" indent="-112713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Regulatory shift </a:t>
            </a: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creates opportunity: Strict new regulations have cleared out smaller, non-compliant competitors, creating a perfect entry point for a well-capitalized, compliance-focused firm.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E016C5-D7FD-690C-14D6-ED69705F273D}"/>
              </a:ext>
            </a:extLst>
          </p:cNvPr>
          <p:cNvSpPr txBox="1"/>
          <p:nvPr/>
        </p:nvSpPr>
        <p:spPr>
          <a:xfrm rot="5400000">
            <a:off x="9021827" y="-1307920"/>
            <a:ext cx="332159" cy="5197001"/>
          </a:xfrm>
          <a:prstGeom prst="rect">
            <a:avLst/>
          </a:prstGeom>
          <a:solidFill>
            <a:schemeClr val="accent1"/>
          </a:solidFill>
        </p:spPr>
        <p:txBody>
          <a:bodyPr vert="vert270" wrap="square" lIns="45720" rIns="45720" rtlCol="0" anchor="ctr" anchorCtr="0">
            <a:no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kumimoji="1"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Competitive White Space</a:t>
            </a:r>
            <a:endParaRPr kumimoji="1" lang="en-IN" sz="1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95D704A4-6698-C901-4BDC-176959B79CFE}"/>
              </a:ext>
            </a:extLst>
          </p:cNvPr>
          <p:cNvSpPr/>
          <p:nvPr/>
        </p:nvSpPr>
        <p:spPr>
          <a:xfrm rot="5400000">
            <a:off x="5473288" y="2865499"/>
            <a:ext cx="1260000" cy="2160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A8618B0-1D10-ADBD-3043-0FFCAB36F2DA}"/>
              </a:ext>
            </a:extLst>
          </p:cNvPr>
          <p:cNvGrpSpPr/>
          <p:nvPr/>
        </p:nvGrpSpPr>
        <p:grpSpPr>
          <a:xfrm>
            <a:off x="344425" y="1016376"/>
            <a:ext cx="5258167" cy="3729093"/>
            <a:chOff x="344425" y="1016376"/>
            <a:chExt cx="5258167" cy="3729093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513237F-0FDC-850E-F936-8D8C9A94097F}"/>
                </a:ext>
              </a:extLst>
            </p:cNvPr>
            <p:cNvGrpSpPr/>
            <p:nvPr/>
          </p:nvGrpSpPr>
          <p:grpSpPr>
            <a:xfrm>
              <a:off x="344425" y="1016376"/>
              <a:ext cx="5258167" cy="3729093"/>
              <a:chOff x="344425" y="952578"/>
              <a:chExt cx="5258167" cy="372909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51C97E2-89E3-E04E-059D-2F338CB5D335}"/>
                  </a:ext>
                </a:extLst>
              </p:cNvPr>
              <p:cNvSpPr/>
              <p:nvPr/>
            </p:nvSpPr>
            <p:spPr>
              <a:xfrm>
                <a:off x="664464" y="1060704"/>
                <a:ext cx="4895088" cy="332841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7557404-A5A8-C6F8-B458-E673CB520391}"/>
                  </a:ext>
                </a:extLst>
              </p:cNvPr>
              <p:cNvCxnSpPr>
                <a:cxnSpLocks/>
                <a:stCxn id="10" idx="0"/>
                <a:endCxn id="10" idx="2"/>
              </p:cNvCxnSpPr>
              <p:nvPr/>
            </p:nvCxnSpPr>
            <p:spPr>
              <a:xfrm>
                <a:off x="3112008" y="1060704"/>
                <a:ext cx="0" cy="3328416"/>
              </a:xfrm>
              <a:prstGeom prst="line">
                <a:avLst/>
              </a:prstGeom>
              <a:ln w="508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9E1FA0A-304C-088A-801E-B4BAF617FAE8}"/>
                  </a:ext>
                </a:extLst>
              </p:cNvPr>
              <p:cNvCxnSpPr>
                <a:cxnSpLocks/>
                <a:stCxn id="10" idx="1"/>
                <a:endCxn id="10" idx="3"/>
              </p:cNvCxnSpPr>
              <p:nvPr/>
            </p:nvCxnSpPr>
            <p:spPr>
              <a:xfrm>
                <a:off x="664464" y="2724912"/>
                <a:ext cx="4895088" cy="0"/>
              </a:xfrm>
              <a:prstGeom prst="line">
                <a:avLst/>
              </a:prstGeom>
              <a:ln w="508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69C710-75D7-3695-C8EE-3C4E7C6DF149}"/>
                  </a:ext>
                </a:extLst>
              </p:cNvPr>
              <p:cNvSpPr txBox="1"/>
              <p:nvPr/>
            </p:nvSpPr>
            <p:spPr>
              <a:xfrm>
                <a:off x="2091038" y="4404672"/>
                <a:ext cx="194745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Ecosystem Dependency</a:t>
                </a:r>
                <a:endParaRPr lang="en-IN" sz="1200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7F20FC-A3AB-ED8A-BEDC-FEB1979A7EB8}"/>
                  </a:ext>
                </a:extLst>
              </p:cNvPr>
              <p:cNvSpPr txBox="1"/>
              <p:nvPr/>
            </p:nvSpPr>
            <p:spPr>
              <a:xfrm rot="16200000">
                <a:off x="-942708" y="2586413"/>
                <a:ext cx="28512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Cross-border / Premium Capability</a:t>
                </a:r>
                <a:endParaRPr lang="en-IN" sz="1200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0711142D-1F6C-A09E-4AE0-6B439FBA7A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-89" t="34667" r="-578" b="36000"/>
              <a:stretch>
                <a:fillRect/>
              </a:stretch>
            </p:blipFill>
            <p:spPr>
              <a:xfrm>
                <a:off x="4267564" y="3781401"/>
                <a:ext cx="1235448" cy="360000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C4B19A56-DD4F-D5FC-1581-8F5CA32C3E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19380" b="17218"/>
              <a:stretch>
                <a:fillRect/>
              </a:stretch>
            </p:blipFill>
            <p:spPr>
              <a:xfrm>
                <a:off x="850922" y="2544912"/>
                <a:ext cx="1013925" cy="360000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FC6E7D73-65FC-B9E9-D272-726E1699A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50665" y="2505544"/>
                <a:ext cx="961491" cy="360000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5662901-B0DC-EDE5-01CD-910AC35A3E6F}"/>
                  </a:ext>
                </a:extLst>
              </p:cNvPr>
              <p:cNvSpPr txBox="1"/>
              <p:nvPr/>
            </p:nvSpPr>
            <p:spPr>
              <a:xfrm>
                <a:off x="651768" y="4105656"/>
                <a:ext cx="53696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Low</a:t>
                </a:r>
                <a:endParaRPr lang="en-IN" sz="1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5E76F0-132B-249E-41FF-9E2626FA6F89}"/>
                  </a:ext>
                </a:extLst>
              </p:cNvPr>
              <p:cNvSpPr txBox="1"/>
              <p:nvPr/>
            </p:nvSpPr>
            <p:spPr>
              <a:xfrm>
                <a:off x="5065631" y="4105656"/>
                <a:ext cx="53696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High</a:t>
                </a:r>
                <a:endParaRPr lang="en-IN" sz="1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C9DCA8-B028-EB5A-C9F0-F826F12C7142}"/>
                  </a:ext>
                </a:extLst>
              </p:cNvPr>
              <p:cNvSpPr txBox="1"/>
              <p:nvPr/>
            </p:nvSpPr>
            <p:spPr>
              <a:xfrm rot="16200000">
                <a:off x="478790" y="1097948"/>
                <a:ext cx="53696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High</a:t>
                </a:r>
                <a:endParaRPr lang="en-IN" sz="1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89E3D7-1A6E-57A0-998F-A4C8BC4DF77E}"/>
                  </a:ext>
                </a:extLst>
              </p:cNvPr>
              <p:cNvSpPr txBox="1"/>
              <p:nvPr/>
            </p:nvSpPr>
            <p:spPr>
              <a:xfrm rot="16200000">
                <a:off x="422410" y="2580778"/>
                <a:ext cx="64972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Medium</a:t>
                </a:r>
                <a:endParaRPr lang="en-IN" sz="1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DEC43F-C5A8-9548-55AB-E85EBE37488E}"/>
                  </a:ext>
                </a:extLst>
              </p:cNvPr>
              <p:cNvSpPr txBox="1"/>
              <p:nvPr/>
            </p:nvSpPr>
            <p:spPr>
              <a:xfrm>
                <a:off x="2787146" y="4105656"/>
                <a:ext cx="64972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Medium</a:t>
                </a:r>
                <a:endParaRPr lang="en-IN" sz="1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8F42C14-A785-A0BA-0041-D3AFE9799FF0}"/>
                  </a:ext>
                </a:extLst>
              </p:cNvPr>
              <p:cNvSpPr txBox="1"/>
              <p:nvPr/>
            </p:nvSpPr>
            <p:spPr>
              <a:xfrm>
                <a:off x="857273" y="1098198"/>
                <a:ext cx="9879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Client</a:t>
                </a:r>
                <a:endParaRPr lang="en-IN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42DBBCF-3EEB-3B52-1C7E-8F64104904C0}"/>
                </a:ext>
              </a:extLst>
            </p:cNvPr>
            <p:cNvSpPr/>
            <p:nvPr/>
          </p:nvSpPr>
          <p:spPr>
            <a:xfrm>
              <a:off x="765544" y="1069541"/>
              <a:ext cx="1013918" cy="581998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FBD9510-7733-A337-E88C-670FF458B939}"/>
              </a:ext>
            </a:extLst>
          </p:cNvPr>
          <p:cNvSpPr txBox="1"/>
          <p:nvPr/>
        </p:nvSpPr>
        <p:spPr>
          <a:xfrm>
            <a:off x="344424" y="6400799"/>
            <a:ext cx="11448000" cy="246221"/>
          </a:xfrm>
          <a:prstGeom prst="rect">
            <a:avLst/>
          </a:prstGeom>
          <a:noFill/>
          <a:ln w="6350" cap="rnd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Sources: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6"/>
              </a:rPr>
              <a:t>User engagement trends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7"/>
              </a:rPr>
              <a:t>Usage rates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8"/>
              </a:rPr>
              <a:t>Wallet share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 err="1">
                <a:latin typeface="Segoe UI" panose="020B0502040204020203" pitchFamily="34" charset="0"/>
                <a:cs typeface="Segoe UI" panose="020B0502040204020203" pitchFamily="34" charset="0"/>
                <a:hlinkClick r:id="rId9"/>
              </a:rPr>
              <a:t>GoPay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9"/>
              </a:rPr>
              <a:t> statistics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10"/>
              </a:rPr>
              <a:t>Snapshot of top e-wallets in Indonesia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11"/>
              </a:rPr>
              <a:t>Top digital payment methods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12"/>
              </a:rPr>
              <a:t>Indonesia mobile wallet market assessment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13"/>
              </a:rPr>
              <a:t>MAUs</a:t>
            </a:r>
            <a:endParaRPr lang="en-IN" sz="10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9D438-FBE7-6246-9CD0-483D0251FB52}"/>
              </a:ext>
            </a:extLst>
          </p:cNvPr>
          <p:cNvSpPr txBox="1"/>
          <p:nvPr/>
        </p:nvSpPr>
        <p:spPr>
          <a:xfrm>
            <a:off x="10658444" y="6565198"/>
            <a:ext cx="15097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i="1" dirty="0">
                <a:latin typeface="Segoe UI" panose="020B0502040204020203" pitchFamily="34" charset="0"/>
                <a:cs typeface="Segoe UI" panose="020B0502040204020203" pitchFamily="34" charset="0"/>
              </a:rPr>
              <a:t>Prepared by – Sachin Garje</a:t>
            </a:r>
            <a:endParaRPr lang="en-IN" sz="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81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10B9C-7C18-6AA0-C05F-6812FA868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B90757-FA46-6825-088D-7752C3D968D8}"/>
              </a:ext>
            </a:extLst>
          </p:cNvPr>
          <p:cNvSpPr txBox="1"/>
          <p:nvPr/>
        </p:nvSpPr>
        <p:spPr>
          <a:xfrm>
            <a:off x="344424" y="219456"/>
            <a:ext cx="11503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Position the brand as the "Singapore-standard" digital wallet for the urban professional who values security and effortless cross-border transfers over domestic rewards</a:t>
            </a:r>
            <a:endParaRPr lang="en-IN" sz="2000" b="1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61E7F-163E-5D85-B510-96B851D87DF5}"/>
              </a:ext>
            </a:extLst>
          </p:cNvPr>
          <p:cNvSpPr txBox="1"/>
          <p:nvPr/>
        </p:nvSpPr>
        <p:spPr>
          <a:xfrm>
            <a:off x="344424" y="6400799"/>
            <a:ext cx="11448000" cy="400110"/>
          </a:xfrm>
          <a:prstGeom prst="rect">
            <a:avLst/>
          </a:prstGeom>
          <a:noFill/>
          <a:ln w="6350" cap="rnd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Sources: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Figures on fraud losses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2025 Analysis of payments and ecommerce trends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Study on user satisfaction in Indonesia’s e-wallet market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Study on Challenges and Perceptions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6"/>
              </a:rPr>
              <a:t>Study on adoption of e-wallet in Indonesia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IN" sz="10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B3136-CF3D-648E-A590-F034802B5B41}"/>
              </a:ext>
            </a:extLst>
          </p:cNvPr>
          <p:cNvSpPr txBox="1"/>
          <p:nvPr/>
        </p:nvSpPr>
        <p:spPr>
          <a:xfrm>
            <a:off x="338411" y="1510068"/>
            <a:ext cx="3776389" cy="33293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rIns="72000" rtlCol="0" anchor="t" anchorCtr="0">
            <a:noAutofit/>
          </a:bodyPr>
          <a:lstStyle/>
          <a:p>
            <a:pPr algn="ctr">
              <a:spcBef>
                <a:spcPts val="800"/>
              </a:spcBef>
            </a:pPr>
            <a:r>
              <a:rPr kumimoji="1"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Trust Deficit</a:t>
            </a:r>
          </a:p>
          <a:p>
            <a:pPr algn="ctr">
              <a:spcBef>
                <a:spcPts val="200"/>
              </a:spcBef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(Security is the #1 unmet need)</a:t>
            </a:r>
          </a:p>
          <a:p>
            <a:pPr marL="112713" indent="-112713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Fraud losses reached IDR 7 trillion between late 2024-2025, with OTP/SIM-swap representing 68% of cases.</a:t>
            </a:r>
          </a:p>
          <a:p>
            <a:pPr marL="112713" indent="-112713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Security ranked #1 improvement priority by </a:t>
            </a:r>
            <a:r>
              <a:rPr kumimoji="1"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GoPay</a:t>
            </a: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OVO and Dana users in satisfaction surveys.</a:t>
            </a:r>
          </a:p>
          <a:p>
            <a:pPr marL="112713" indent="-112713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Users prioritize security and reliability over all other factors in adoption intent studies. </a:t>
            </a:r>
          </a:p>
          <a:p>
            <a:pPr marL="112713" indent="-112713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Client advantage</a:t>
            </a: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: MAS-regulated brand = institutional trust signal incumbents cannot credibly claim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54EBE3-5848-2076-CB1F-149F85052B22}"/>
              </a:ext>
            </a:extLst>
          </p:cNvPr>
          <p:cNvSpPr txBox="1"/>
          <p:nvPr/>
        </p:nvSpPr>
        <p:spPr>
          <a:xfrm rot="5400000">
            <a:off x="5901641" y="-4438736"/>
            <a:ext cx="321527" cy="11448001"/>
          </a:xfrm>
          <a:prstGeom prst="rect">
            <a:avLst/>
          </a:prstGeom>
          <a:solidFill>
            <a:schemeClr val="accent1"/>
          </a:solidFill>
        </p:spPr>
        <p:txBody>
          <a:bodyPr vert="vert270" wrap="square" lIns="45720" rIns="45720" rtlCol="0" anchor="ctr" anchorCtr="0">
            <a:no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kumimoji="1" lang="en-US" sz="1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Positioning Rationale</a:t>
            </a:r>
            <a:endParaRPr kumimoji="1" lang="en-IN" sz="1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68B08-8B61-68CC-202A-A3E33D05ABAE}"/>
              </a:ext>
            </a:extLst>
          </p:cNvPr>
          <p:cNvSpPr txBox="1"/>
          <p:nvPr/>
        </p:nvSpPr>
        <p:spPr>
          <a:xfrm>
            <a:off x="4174213" y="1510067"/>
            <a:ext cx="3776389" cy="33293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rIns="72000" rtlCol="0" anchor="t" anchorCtr="0">
            <a:noAutofit/>
          </a:bodyPr>
          <a:lstStyle/>
          <a:p>
            <a:pPr algn="ctr">
              <a:spcBef>
                <a:spcPts val="800"/>
              </a:spcBef>
            </a:pPr>
            <a:r>
              <a:rPr kumimoji="1"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Cross-border Gap</a:t>
            </a:r>
          </a:p>
          <a:p>
            <a:pPr algn="ctr">
              <a:spcBef>
                <a:spcPts val="200"/>
              </a:spcBef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(No wallet owns this space)</a:t>
            </a:r>
          </a:p>
          <a:p>
            <a:pPr marL="112713" indent="-112713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~20% of Indonesia's e-commerce sales in 2024 were cross-border — yet no wallet offers a purpose-built cross-border UX.</a:t>
            </a:r>
          </a:p>
          <a:p>
            <a:pPr marL="112713" indent="-112713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Cross-border QR interoperability is opening new tourist-spend corridors.</a:t>
            </a:r>
          </a:p>
          <a:p>
            <a:pPr marL="112713" indent="-112713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DANA's cross-border feature is nascent; </a:t>
            </a:r>
            <a:r>
              <a:rPr kumimoji="1"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GoPay</a:t>
            </a: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and OVO have no cross-border offer for Indonesian users. </a:t>
            </a:r>
          </a:p>
          <a:p>
            <a:pPr marL="112713" indent="-112713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Client advantage</a:t>
            </a: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: 200K Singapore users = live cross-border user base on Day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CA0304-8981-75B2-2D93-8E65290E3617}"/>
              </a:ext>
            </a:extLst>
          </p:cNvPr>
          <p:cNvSpPr txBox="1"/>
          <p:nvPr/>
        </p:nvSpPr>
        <p:spPr>
          <a:xfrm>
            <a:off x="8010016" y="1510068"/>
            <a:ext cx="3776389" cy="33293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rIns="72000" rtlCol="0" anchor="t" anchorCtr="0">
            <a:noAutofit/>
          </a:bodyPr>
          <a:lstStyle/>
          <a:p>
            <a:pPr algn="ctr">
              <a:spcBef>
                <a:spcPts val="800"/>
              </a:spcBef>
            </a:pPr>
            <a:r>
              <a:rPr kumimoji="1"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Proven Technology</a:t>
            </a:r>
          </a:p>
          <a:p>
            <a:pPr algn="ctr">
              <a:spcBef>
                <a:spcPts val="200"/>
              </a:spcBef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(Fintech firm registered in Singapore)</a:t>
            </a:r>
          </a:p>
          <a:p>
            <a:pPr marL="112713" indent="-112713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Singapore ranks 6th globally in Fintech Index 2025, and global investors prefer Singapore fintechs due to reliable regulation, strong compliance, and trusted IP protection.</a:t>
            </a:r>
          </a:p>
          <a:p>
            <a:pPr marL="112713" indent="-112713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Client already has 200,000 Singapore users and MAS licensing. </a:t>
            </a:r>
          </a:p>
          <a:p>
            <a:pPr marL="112713" indent="-112713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Client advantage</a:t>
            </a: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: The positioning must be framed as ASEAN-native, Singapore-regulated — not as a Singapore company entering Indonesia.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33EF8-E02E-B1A8-1593-DF1BD38F7D0E}"/>
              </a:ext>
            </a:extLst>
          </p:cNvPr>
          <p:cNvSpPr txBox="1"/>
          <p:nvPr/>
        </p:nvSpPr>
        <p:spPr>
          <a:xfrm>
            <a:off x="1252728" y="5016758"/>
            <a:ext cx="10539696" cy="1233488"/>
          </a:xfrm>
          <a:prstGeom prst="roundRect">
            <a:avLst>
              <a:gd name="adj" fmla="val 2232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For Indonesian professionals who live and work across borders,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Client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is the only financial-grade wallet that offers "Singapore-standard" security for everyday Indonesian transactions. Unlike local super-apps built for lifestyle services and rides, we provide a MAS-regulated, QRIS-native platform specialized in cross-border payments trusted by 200K users.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Graphic 10" descr="Right pointing backhand index with solid fill">
            <a:extLst>
              <a:ext uri="{FF2B5EF4-FFF2-40B4-BE49-F238E27FC236}">
                <a16:creationId xmlns:a16="http://schemas.microsoft.com/office/drawing/2014/main" id="{A2151238-7705-F218-ECD4-FFE4CE75C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7864" y="5132532"/>
            <a:ext cx="720000" cy="7200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BA4D11B1-A590-99D1-BCC8-FEB1C292404C}"/>
              </a:ext>
            </a:extLst>
          </p:cNvPr>
          <p:cNvSpPr/>
          <p:nvPr/>
        </p:nvSpPr>
        <p:spPr>
          <a:xfrm>
            <a:off x="338411" y="1510067"/>
            <a:ext cx="288000" cy="28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en-IN" sz="1600" b="1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4B182A-DE6F-F5CB-63FB-5EF288D68BE4}"/>
              </a:ext>
            </a:extLst>
          </p:cNvPr>
          <p:cNvSpPr/>
          <p:nvPr/>
        </p:nvSpPr>
        <p:spPr>
          <a:xfrm>
            <a:off x="4174213" y="1510067"/>
            <a:ext cx="288000" cy="28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en-IN" sz="1600" b="1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F048121-5053-372C-75A7-A0777881E862}"/>
              </a:ext>
            </a:extLst>
          </p:cNvPr>
          <p:cNvSpPr/>
          <p:nvPr/>
        </p:nvSpPr>
        <p:spPr>
          <a:xfrm>
            <a:off x="8010016" y="1510067"/>
            <a:ext cx="288000" cy="28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lang="en-IN" sz="1600" b="1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D516D7-14DE-CC8D-BFB7-FDC9E278042C}"/>
              </a:ext>
            </a:extLst>
          </p:cNvPr>
          <p:cNvSpPr txBox="1"/>
          <p:nvPr/>
        </p:nvSpPr>
        <p:spPr>
          <a:xfrm>
            <a:off x="10658444" y="6565198"/>
            <a:ext cx="15097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i="1" dirty="0">
                <a:latin typeface="Segoe UI" panose="020B0502040204020203" pitchFamily="34" charset="0"/>
                <a:cs typeface="Segoe UI" panose="020B0502040204020203" pitchFamily="34" charset="0"/>
              </a:rPr>
              <a:t>Prepared by – Sachin Garje</a:t>
            </a:r>
            <a:endParaRPr lang="en-IN" sz="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682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9050A-4FAF-D03D-8A70-6E239DCE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1B574E-C45F-DCAE-DE46-2B3B1C8A2557}"/>
              </a:ext>
            </a:extLst>
          </p:cNvPr>
          <p:cNvSpPr txBox="1"/>
          <p:nvPr/>
        </p:nvSpPr>
        <p:spPr>
          <a:xfrm>
            <a:off x="344424" y="219456"/>
            <a:ext cx="11503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Three channels cover the full urban acquisition funnel — E-commerce for scale, telco for reach, corporate for high-value retention — anchored by </a:t>
            </a:r>
            <a:r>
              <a:rPr lang="en-US" sz="2000" b="1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Alfamart</a:t>
            </a:r>
            <a:endParaRPr lang="en-IN" sz="2000" b="1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A6837-529F-F36E-AB39-355CA780D9F6}"/>
              </a:ext>
            </a:extLst>
          </p:cNvPr>
          <p:cNvSpPr txBox="1"/>
          <p:nvPr/>
        </p:nvSpPr>
        <p:spPr>
          <a:xfrm>
            <a:off x="344424" y="6400799"/>
            <a:ext cx="11448000" cy="400110"/>
          </a:xfrm>
          <a:prstGeom prst="rect">
            <a:avLst/>
          </a:prstGeom>
          <a:noFill/>
          <a:ln w="6350" cap="rnd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Sources: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Top digital payment methods in Indonesia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2025 analysis of payments and ecommerce trends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Ipsos digital wallet landscape in 2026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Indonesia’s digital market in 2026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 err="1">
                <a:latin typeface="Segoe UI" panose="020B0502040204020203" pitchFamily="34" charset="0"/>
                <a:cs typeface="Segoe UI" panose="020B0502040204020203" pitchFamily="34" charset="0"/>
                <a:hlinkClick r:id="rId6"/>
              </a:rPr>
              <a:t>GoPay-Alfamart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 err="1">
                <a:latin typeface="Segoe UI" panose="020B0502040204020203" pitchFamily="34" charset="0"/>
                <a:cs typeface="Segoe UI" panose="020B0502040204020203" pitchFamily="34" charset="0"/>
                <a:hlinkClick r:id="rId7"/>
              </a:rPr>
              <a:t>GoPay-AlfaGroup</a:t>
            </a:r>
            <a:endParaRPr lang="en-IN" sz="10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6A419C-11C2-9717-6776-D8DDB9A5ECEB}"/>
              </a:ext>
            </a:extLst>
          </p:cNvPr>
          <p:cNvSpPr/>
          <p:nvPr/>
        </p:nvSpPr>
        <p:spPr>
          <a:xfrm rot="16200000">
            <a:off x="-1976091" y="3462104"/>
            <a:ext cx="5076000" cy="3594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Go-To-Market Channels</a:t>
            </a: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1F3559-79C5-B60D-B557-D6889DE3FA1B}"/>
              </a:ext>
            </a:extLst>
          </p:cNvPr>
          <p:cNvSpPr/>
          <p:nvPr/>
        </p:nvSpPr>
        <p:spPr>
          <a:xfrm>
            <a:off x="850604" y="1103842"/>
            <a:ext cx="1807534" cy="1598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Integrate with E- &amp; Social Commerce</a:t>
            </a:r>
            <a:endParaRPr lang="en-IN" sz="1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5CD668-2F46-0443-C2D8-BAC1FACD29CD}"/>
              </a:ext>
            </a:extLst>
          </p:cNvPr>
          <p:cNvSpPr/>
          <p:nvPr/>
        </p:nvSpPr>
        <p:spPr>
          <a:xfrm>
            <a:off x="850604" y="2843238"/>
            <a:ext cx="1807534" cy="1598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Partner with Telecom Providers</a:t>
            </a:r>
            <a:endParaRPr lang="en-IN" sz="1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480A80-D1BA-27CC-3267-13DA156F249E}"/>
              </a:ext>
            </a:extLst>
          </p:cNvPr>
          <p:cNvSpPr/>
          <p:nvPr/>
        </p:nvSpPr>
        <p:spPr>
          <a:xfrm>
            <a:off x="850604" y="4582633"/>
            <a:ext cx="1807534" cy="15972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B2B2C Corporate Partnerships</a:t>
            </a:r>
            <a:endParaRPr lang="en-IN" sz="1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8C7E3-12F3-BE09-18A1-8C21AD730784}"/>
              </a:ext>
            </a:extLst>
          </p:cNvPr>
          <p:cNvSpPr txBox="1"/>
          <p:nvPr/>
        </p:nvSpPr>
        <p:spPr>
          <a:xfrm>
            <a:off x="2767094" y="1103842"/>
            <a:ext cx="4388400" cy="1598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rIns="72000" rtlCol="0" anchor="ctr" anchorCtr="0">
            <a:noAutofit/>
          </a:bodyPr>
          <a:lstStyle/>
          <a:p>
            <a:pPr marL="112713" indent="-112713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Digital wallets that are integrated with e-commerce platforms have a greater likelihood of being used repeatedly.</a:t>
            </a:r>
          </a:p>
          <a:p>
            <a:pPr marL="112713" indent="-112713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E-commerce GMV exceeds $75B and social commerce is valued at $5B in 2024. Digital wallets are the #1 online payment method, above credit cards and COD.</a:t>
            </a:r>
          </a:p>
          <a:p>
            <a:pPr marL="112713" indent="-112713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Main Players – Shopee, TikTok, Tokopedia, Lazada, Instagram, </a:t>
            </a:r>
            <a:r>
              <a:rPr kumimoji="1"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Bukalapak</a:t>
            </a:r>
            <a:endParaRPr kumimoji="1"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D869FD-6DDE-8C76-27A3-A69B74B92439}"/>
              </a:ext>
            </a:extLst>
          </p:cNvPr>
          <p:cNvSpPr txBox="1"/>
          <p:nvPr/>
        </p:nvSpPr>
        <p:spPr>
          <a:xfrm>
            <a:off x="2767094" y="2842642"/>
            <a:ext cx="4388400" cy="1598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rIns="72000" rtlCol="0" anchor="ctr" anchorCtr="0">
            <a:noAutofit/>
          </a:bodyPr>
          <a:lstStyle/>
          <a:p>
            <a:pPr marL="112713" indent="-112713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Use Telco data to simplify the “onboarding bottleneck" and prove the user's legitimacy bypassing KYC processes.</a:t>
            </a:r>
          </a:p>
          <a:p>
            <a:pPr marL="112713" indent="-112713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Integrate with Indosat’s "Smart Verify" or </a:t>
            </a:r>
            <a:r>
              <a:rPr kumimoji="1"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Telkomsel’s</a:t>
            </a: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"MSIGHT." These tools use SIM-based data to verify a user's identity and financial reliability.</a:t>
            </a:r>
          </a:p>
          <a:p>
            <a:pPr marL="112713" indent="-112713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Main Players – </a:t>
            </a:r>
            <a:r>
              <a:rPr kumimoji="1"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Telkomsel</a:t>
            </a: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, Indosat IM3, XL Axiata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F45CAE-9B17-A6A0-3947-330A895E0560}"/>
              </a:ext>
            </a:extLst>
          </p:cNvPr>
          <p:cNvSpPr txBox="1"/>
          <p:nvPr/>
        </p:nvSpPr>
        <p:spPr>
          <a:xfrm>
            <a:off x="2767094" y="4581443"/>
            <a:ext cx="4388400" cy="1598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rIns="72000" rtlCol="0" anchor="ctr" anchorCtr="0">
            <a:noAutofit/>
          </a:bodyPr>
          <a:lstStyle/>
          <a:p>
            <a:pPr marL="112713" indent="-112713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Target Singapore-based company operating in Indonesia or employing Indonesian employees.</a:t>
            </a:r>
          </a:p>
          <a:p>
            <a:pPr marL="112713" indent="-112713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Offer the wallet as a corporate "perquisite" for employees who need to manage funds across both currencies (SGD/IDR).</a:t>
            </a:r>
          </a:p>
          <a:p>
            <a:pPr marL="112713" indent="-112713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Employees of cross-border firms are the highest-ARPU segment. This bypasses high acquisition costs by leveraging an existing employee base.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567EA49-DE34-0321-CCFA-950D25CF60A5}"/>
              </a:ext>
            </a:extLst>
          </p:cNvPr>
          <p:cNvSpPr/>
          <p:nvPr/>
        </p:nvSpPr>
        <p:spPr>
          <a:xfrm rot="5400000">
            <a:off x="6770462" y="3471556"/>
            <a:ext cx="1260000" cy="2160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Graphic 15" descr="Handshake with solid fill">
            <a:extLst>
              <a:ext uri="{FF2B5EF4-FFF2-40B4-BE49-F238E27FC236}">
                <a16:creationId xmlns:a16="http://schemas.microsoft.com/office/drawing/2014/main" id="{1CB4B4C4-82B4-C73C-F0D4-6FB2B57F3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4371" y="4911722"/>
            <a:ext cx="720000" cy="720000"/>
          </a:xfrm>
          <a:prstGeom prst="rect">
            <a:avLst/>
          </a:prstGeom>
        </p:spPr>
      </p:pic>
      <p:pic>
        <p:nvPicPr>
          <p:cNvPr id="18" name="Graphic 17" descr="Shopping cart with solid fill">
            <a:extLst>
              <a:ext uri="{FF2B5EF4-FFF2-40B4-BE49-F238E27FC236}">
                <a16:creationId xmlns:a16="http://schemas.microsoft.com/office/drawing/2014/main" id="{80437162-9589-CA42-847D-9F624E143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94371" y="1387617"/>
            <a:ext cx="720000" cy="720000"/>
          </a:xfrm>
          <a:prstGeom prst="rect">
            <a:avLst/>
          </a:prstGeom>
        </p:spPr>
      </p:pic>
      <p:pic>
        <p:nvPicPr>
          <p:cNvPr id="20" name="Graphic 19" descr="Speaker phone with solid fill">
            <a:extLst>
              <a:ext uri="{FF2B5EF4-FFF2-40B4-BE49-F238E27FC236}">
                <a16:creationId xmlns:a16="http://schemas.microsoft.com/office/drawing/2014/main" id="{E021770D-D97A-F7B4-DDB5-210FCAF93F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94371" y="3069000"/>
            <a:ext cx="720000" cy="72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FA6D888-248D-9727-BC55-09BD77B90489}"/>
              </a:ext>
            </a:extLst>
          </p:cNvPr>
          <p:cNvSpPr txBox="1"/>
          <p:nvPr/>
        </p:nvSpPr>
        <p:spPr>
          <a:xfrm>
            <a:off x="7761766" y="1433448"/>
            <a:ext cx="4030657" cy="4788000"/>
          </a:xfrm>
          <a:prstGeom prst="roundRect">
            <a:avLst>
              <a:gd name="adj" fmla="val 3165"/>
            </a:avLst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112713" lvl="0" indent="-112713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kumimoji="1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Largest convenience store chain in Indonesia (</a:t>
            </a:r>
            <a:r>
              <a:rPr kumimoji="1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22,000+</a:t>
            </a:r>
            <a:r>
              <a:rPr kumimoji="1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outlets)</a:t>
            </a:r>
            <a:r>
              <a:rPr kumimoji="1"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—</a:t>
            </a:r>
            <a:r>
              <a:rPr kumimoji="1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provides physical presence and cash liquidity, which are vital for building trust in Indonesia.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Focus on </a:t>
            </a:r>
            <a:r>
              <a:rPr kumimoji="1" lang="en-US" sz="14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Cash-In/Out </a:t>
            </a:r>
            <a:r>
              <a:rPr kumimoji="1"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</a:t>
            </a:r>
            <a:r>
              <a:rPr kumimoji="1" lang="en-US" sz="14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KYC Assistance</a:t>
            </a:r>
          </a:p>
          <a:p>
            <a:pPr marL="742950" lvl="1" indent="-285750">
              <a:spcBef>
                <a:spcPts val="400"/>
              </a:spcBef>
              <a:buFont typeface="Courier New" panose="02070309020205020404" pitchFamily="49" charset="0"/>
              <a:buChar char="o"/>
              <a:defRPr/>
            </a:pPr>
            <a:r>
              <a:rPr kumimoji="1"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Users can top-up their wallets using cash or withdraw at any </a:t>
            </a:r>
            <a:r>
              <a:rPr kumimoji="1" lang="en-US" sz="1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Alfamart</a:t>
            </a:r>
            <a:r>
              <a:rPr kumimoji="1"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counter</a:t>
            </a:r>
          </a:p>
          <a:p>
            <a:pPr marL="742950" lvl="1" indent="-285750">
              <a:spcBef>
                <a:spcPts val="400"/>
              </a:spcBef>
              <a:buFont typeface="Courier New" panose="02070309020205020404" pitchFamily="49" charset="0"/>
              <a:buChar char="o"/>
              <a:defRPr/>
            </a:pPr>
            <a:r>
              <a:rPr kumimoji="1" lang="en-US" sz="1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Alfamart</a:t>
            </a:r>
            <a:r>
              <a:rPr kumimoji="1"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staff act as human verifiers, scanning physical IDs to "Premium-verify" the user.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Alfamart</a:t>
            </a:r>
            <a:r>
              <a:rPr kumimoji="1"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charge a small </a:t>
            </a:r>
            <a:r>
              <a:rPr kumimoji="1" lang="en-US" sz="14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admin fee </a:t>
            </a:r>
            <a:r>
              <a:rPr kumimoji="1"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IDR 2000-2500 per transaction for Cash-In/Out. Already partners with </a:t>
            </a:r>
            <a:r>
              <a:rPr kumimoji="1" lang="en-US" sz="1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GoPay</a:t>
            </a:r>
            <a:r>
              <a:rPr kumimoji="1"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OVO.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assisted e-KYC, </a:t>
            </a:r>
            <a:r>
              <a:rPr kumimoji="1" lang="en-US" sz="1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Alfamart</a:t>
            </a:r>
            <a:r>
              <a:rPr kumimoji="1"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might charge IDR 5-10K per user for successful verification. 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4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Other options</a:t>
            </a:r>
            <a:r>
              <a:rPr kumimoji="1"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I</a:t>
            </a:r>
            <a:r>
              <a:rPr kumimoji="1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ntegrate</a:t>
            </a:r>
            <a:r>
              <a:rPr kumimoji="1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wallet into </a:t>
            </a:r>
            <a:r>
              <a:rPr kumimoji="1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Alfamart’s</a:t>
            </a:r>
            <a:r>
              <a:rPr kumimoji="1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Point-of-Sale (POS) system for a one-time fee.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Co-Marketing: feature as preferred payment method in </a:t>
            </a:r>
            <a:r>
              <a:rPr kumimoji="1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AlfaGift</a:t>
            </a:r>
            <a:r>
              <a:rPr kumimoji="1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app or in-store promotion.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1BF5BA-AA2B-205D-0016-3B724146EF6A}"/>
              </a:ext>
            </a:extLst>
          </p:cNvPr>
          <p:cNvSpPr txBox="1"/>
          <p:nvPr/>
        </p:nvSpPr>
        <p:spPr>
          <a:xfrm>
            <a:off x="7676118" y="1068847"/>
            <a:ext cx="3690508" cy="307777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r>
              <a:rPr kumimoji="1" lang="en-US" sz="14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Anchor Partnership with </a:t>
            </a:r>
            <a:r>
              <a:rPr kumimoji="1" lang="en-US" sz="1400" b="1" dirty="0" err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Alfamart</a:t>
            </a:r>
            <a:endParaRPr kumimoji="1" lang="en-IN" sz="14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EE6B765-AD74-47EA-043C-49A9BC6E4510}"/>
              </a:ext>
            </a:extLst>
          </p:cNvPr>
          <p:cNvCxnSpPr>
            <a:cxnSpLocks/>
          </p:cNvCxnSpPr>
          <p:nvPr/>
        </p:nvCxnSpPr>
        <p:spPr>
          <a:xfrm>
            <a:off x="7766953" y="1370599"/>
            <a:ext cx="399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051E405-F666-1317-0D55-93D0CD8CF6B1}"/>
              </a:ext>
            </a:extLst>
          </p:cNvPr>
          <p:cNvSpPr txBox="1"/>
          <p:nvPr/>
        </p:nvSpPr>
        <p:spPr>
          <a:xfrm>
            <a:off x="10658444" y="6565198"/>
            <a:ext cx="15097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i="1" dirty="0">
                <a:latin typeface="Segoe UI" panose="020B0502040204020203" pitchFamily="34" charset="0"/>
                <a:cs typeface="Segoe UI" panose="020B0502040204020203" pitchFamily="34" charset="0"/>
              </a:rPr>
              <a:t>Prepared by – Sachin Garje</a:t>
            </a:r>
            <a:endParaRPr lang="en-IN" sz="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734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96BFA-8273-146D-CCAE-B869C6A93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5EE004-BB78-BF72-D4A5-1D5F8AF400A9}"/>
              </a:ext>
            </a:extLst>
          </p:cNvPr>
          <p:cNvSpPr txBox="1"/>
          <p:nvPr/>
        </p:nvSpPr>
        <p:spPr>
          <a:xfrm>
            <a:off x="344424" y="219456"/>
            <a:ext cx="11503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Bank Indonesia's regulated MDR floor creates a near-level playing field — focus on cross border fees and value-added services to improve margins</a:t>
            </a:r>
            <a:endParaRPr lang="en-IN" sz="2000" b="1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05B867-1B00-A427-24C8-FCC28FBC8EE4}"/>
              </a:ext>
            </a:extLst>
          </p:cNvPr>
          <p:cNvSpPr txBox="1"/>
          <p:nvPr/>
        </p:nvSpPr>
        <p:spPr>
          <a:xfrm>
            <a:off x="344424" y="6400799"/>
            <a:ext cx="11448000" cy="400110"/>
          </a:xfrm>
          <a:prstGeom prst="rect">
            <a:avLst/>
          </a:prstGeom>
          <a:noFill/>
          <a:ln w="6350" cap="rnd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*MDR=Merchant Discount Rate</a:t>
            </a:r>
          </a:p>
          <a:p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Sources: </a:t>
            </a:r>
            <a:r>
              <a:rPr lang="en-US" sz="1000" i="1" dirty="0" err="1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GoPay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 Merchant - MDR QRIS tariff regulations</a:t>
            </a:r>
            <a:endParaRPr lang="en-IN" sz="10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3FF6D9-AADB-FE60-3AF0-1D69EC8F8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935624"/>
              </p:ext>
            </p:extLst>
          </p:nvPr>
        </p:nvGraphicFramePr>
        <p:xfrm>
          <a:off x="461383" y="1525893"/>
          <a:ext cx="583200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000">
                  <a:extLst>
                    <a:ext uri="{9D8B030D-6E8A-4147-A177-3AD203B41FA5}">
                      <a16:colId xmlns:a16="http://schemas.microsoft.com/office/drawing/2014/main" val="2063824677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407905254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16530365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Merchant Tier</a:t>
                      </a:r>
                      <a:endParaRPr lang="en-IN" sz="1200" b="1" kern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Transaction Size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MDR</a:t>
                      </a:r>
                      <a:r>
                        <a:rPr lang="en-US" sz="1200" b="1" baseline="300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*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Rate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Micro-enterprises (UMI)</a:t>
                      </a:r>
                      <a:endParaRPr lang="en-IN" sz="1200" b="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&lt; IDR 500,000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745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Micro-enterprises (above threshold)</a:t>
                      </a:r>
                      <a:endParaRPr lang="en-IN" sz="1200" b="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&gt; IDR 500,000 </a:t>
                      </a:r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upto</a:t>
                      </a: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2M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0.3%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Small businesses (UKE)</a:t>
                      </a: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Any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366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Medium businesses (UME)</a:t>
                      </a: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Any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Large businesses (UBE)</a:t>
                      </a: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Any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0.7%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244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Cross-border</a:t>
                      </a:r>
                      <a:endParaRPr lang="en-IN" sz="1200" b="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Any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0.7% + FX margin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10195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82C7DE-80F4-8352-35E0-8BED1C9C7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476572"/>
              </p:ext>
            </p:extLst>
          </p:nvPr>
        </p:nvGraphicFramePr>
        <p:xfrm>
          <a:off x="6926455" y="1525893"/>
          <a:ext cx="475200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2063824677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407905254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6530365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P2P Type</a:t>
                      </a:r>
                      <a:endParaRPr lang="en-IN" sz="1200" b="1" kern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Amount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Fee</a:t>
                      </a:r>
                      <a:endParaRPr lang="en-IN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Domestic P2P (same wallet)</a:t>
                      </a:r>
                      <a:endParaRPr lang="en-IN" sz="1200" b="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Any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Free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745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Domestic P2P (inter-bank)</a:t>
                      </a:r>
                      <a:endParaRPr lang="en-IN" sz="1200" b="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Any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IDR 2000-2500 flat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Cross-border P2P</a:t>
                      </a:r>
                      <a:endParaRPr lang="en-IN" sz="1200" b="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Upto</a:t>
                      </a:r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IDR 10M/</a:t>
                      </a:r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txn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0.5-1% + IDR 5K (flat)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366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Cash Top-up</a:t>
                      </a:r>
                      <a:endParaRPr lang="en-IN" sz="1200" b="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Any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IDR 2500 per </a:t>
                      </a:r>
                      <a:r>
                        <a:rPr lang="en-US" sz="12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txn</a:t>
                      </a:r>
                      <a:endParaRPr lang="en-IN" sz="12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45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9860557-6C29-97B2-31B0-4F359A0BEFC0}"/>
              </a:ext>
            </a:extLst>
          </p:cNvPr>
          <p:cNvSpPr txBox="1"/>
          <p:nvPr/>
        </p:nvSpPr>
        <p:spPr>
          <a:xfrm>
            <a:off x="344424" y="1047581"/>
            <a:ext cx="4912067" cy="307777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r>
              <a:rPr kumimoji="1" lang="en-US" sz="14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Tiered Merchant Fee Model</a:t>
            </a:r>
            <a:endParaRPr kumimoji="1" lang="en-IN" sz="14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56B99B-3DA9-C13E-596E-E4A491309DCB}"/>
              </a:ext>
            </a:extLst>
          </p:cNvPr>
          <p:cNvCxnSpPr>
            <a:cxnSpLocks/>
          </p:cNvCxnSpPr>
          <p:nvPr/>
        </p:nvCxnSpPr>
        <p:spPr>
          <a:xfrm>
            <a:off x="449527" y="1349333"/>
            <a:ext cx="23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A083C7B-96B0-AD6A-B750-F8A51F374BA6}"/>
              </a:ext>
            </a:extLst>
          </p:cNvPr>
          <p:cNvSpPr txBox="1"/>
          <p:nvPr/>
        </p:nvSpPr>
        <p:spPr>
          <a:xfrm>
            <a:off x="6818550" y="1047581"/>
            <a:ext cx="4912067" cy="307777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r>
              <a:rPr kumimoji="1" lang="en-US" sz="14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Peer-to-Peer Transactions Fee Model</a:t>
            </a:r>
            <a:endParaRPr kumimoji="1" lang="en-IN" sz="14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32B9F7-CF5C-6C42-19A5-046F7B73C11E}"/>
              </a:ext>
            </a:extLst>
          </p:cNvPr>
          <p:cNvCxnSpPr>
            <a:cxnSpLocks/>
          </p:cNvCxnSpPr>
          <p:nvPr/>
        </p:nvCxnSpPr>
        <p:spPr>
          <a:xfrm>
            <a:off x="6923653" y="1349333"/>
            <a:ext cx="309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D60B738-A190-B243-3252-7BC582E770DD}"/>
              </a:ext>
            </a:extLst>
          </p:cNvPr>
          <p:cNvSpPr txBox="1"/>
          <p:nvPr/>
        </p:nvSpPr>
        <p:spPr>
          <a:xfrm>
            <a:off x="344424" y="3668533"/>
            <a:ext cx="4912067" cy="307777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r>
              <a:rPr kumimoji="1" lang="en-US" sz="14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Break-Even Point Analysis</a:t>
            </a:r>
            <a:endParaRPr kumimoji="1" lang="en-IN" sz="14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8022FB-74AF-3C3C-2AA7-E741EB58DF9A}"/>
              </a:ext>
            </a:extLst>
          </p:cNvPr>
          <p:cNvCxnSpPr>
            <a:cxnSpLocks/>
          </p:cNvCxnSpPr>
          <p:nvPr/>
        </p:nvCxnSpPr>
        <p:spPr>
          <a:xfrm>
            <a:off x="449527" y="3970285"/>
            <a:ext cx="219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9B26C0F-48C4-D525-9DCC-A9903506F664}"/>
              </a:ext>
            </a:extLst>
          </p:cNvPr>
          <p:cNvSpPr txBox="1"/>
          <p:nvPr/>
        </p:nvSpPr>
        <p:spPr>
          <a:xfrm>
            <a:off x="461384" y="4121762"/>
            <a:ext cx="11217072" cy="2079704"/>
          </a:xfrm>
          <a:prstGeom prst="roundRect">
            <a:avLst>
              <a:gd name="adj" fmla="val 555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The break-even sits at roughly </a:t>
            </a: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~5 million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transactions per month — assuming an average transaction value of IDR 100,000 per month and fixed costs of IDR 1700M.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MDR revenue split is assumed to be 50-50% between wallet provider and other fees including Govt. admin/infra.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Because margin on payments are so low, most Indonesian wallets only break even by </a:t>
            </a: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cross-selling high-margin products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like BNPL, cross-border payments, micro-insurance or investment products.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Invest in building cross-border volume, where the FX margin is unregulated and 3–4× more valuable per transaction.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Bank Indonesia occasionally waives MDR for micro merchants which can help in user growth but makes the break-even target even harder to reach solely through fees. 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DD9080-1871-2B99-3FAE-B78A0692B2B0}"/>
              </a:ext>
            </a:extLst>
          </p:cNvPr>
          <p:cNvSpPr txBox="1"/>
          <p:nvPr/>
        </p:nvSpPr>
        <p:spPr>
          <a:xfrm>
            <a:off x="10658444" y="6565198"/>
            <a:ext cx="15097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i="1" dirty="0">
                <a:latin typeface="Segoe UI" panose="020B0502040204020203" pitchFamily="34" charset="0"/>
                <a:cs typeface="Segoe UI" panose="020B0502040204020203" pitchFamily="34" charset="0"/>
              </a:rPr>
              <a:t>Prepared by – Sachin Garje</a:t>
            </a:r>
            <a:endParaRPr lang="en-IN" sz="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707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5E49D-2287-0700-E35E-43EE4BE86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EBF3A5-D657-1336-7850-533743474E38}"/>
              </a:ext>
            </a:extLst>
          </p:cNvPr>
          <p:cNvSpPr txBox="1"/>
          <p:nvPr/>
        </p:nvSpPr>
        <p:spPr>
          <a:xfrm>
            <a:off x="344424" y="219456"/>
            <a:ext cx="11503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Snapshot from Excel Spreadsheet – Break Even Calculation</a:t>
            </a:r>
            <a:endParaRPr lang="en-IN" sz="2000" b="1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DA75A8-1B90-CB98-8880-B0648E48D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46" y="933450"/>
            <a:ext cx="9994509" cy="54992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7F9C4F-7698-B2BF-1570-5A16500B9F63}"/>
              </a:ext>
            </a:extLst>
          </p:cNvPr>
          <p:cNvSpPr txBox="1"/>
          <p:nvPr/>
        </p:nvSpPr>
        <p:spPr>
          <a:xfrm>
            <a:off x="10658444" y="6565198"/>
            <a:ext cx="15097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i="1" dirty="0">
                <a:latin typeface="Segoe UI" panose="020B0502040204020203" pitchFamily="34" charset="0"/>
                <a:cs typeface="Segoe UI" panose="020B0502040204020203" pitchFamily="34" charset="0"/>
              </a:rPr>
              <a:t>Prepared by – Sachin Garje</a:t>
            </a:r>
            <a:endParaRPr lang="en-IN" sz="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399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7357F-7A8A-79B2-B727-30BFA9B77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78818A-6201-C635-57EC-75BEEBDCE82E}"/>
              </a:ext>
            </a:extLst>
          </p:cNvPr>
          <p:cNvSpPr txBox="1"/>
          <p:nvPr/>
        </p:nvSpPr>
        <p:spPr>
          <a:xfrm>
            <a:off x="344424" y="219456"/>
            <a:ext cx="11503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Build institutional trust early and prioritize transaction reliability to convert high-value cross-border users by Day 90</a:t>
            </a:r>
            <a:endParaRPr lang="en-IN" sz="2000" b="1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435361-EA74-5C99-FBA4-B764F3B64C8E}"/>
              </a:ext>
            </a:extLst>
          </p:cNvPr>
          <p:cNvSpPr txBox="1"/>
          <p:nvPr/>
        </p:nvSpPr>
        <p:spPr>
          <a:xfrm>
            <a:off x="344424" y="6400799"/>
            <a:ext cx="11448000" cy="246221"/>
          </a:xfrm>
          <a:prstGeom prst="rect">
            <a:avLst/>
          </a:prstGeom>
          <a:noFill/>
          <a:ln w="6350" cap="rnd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Sources: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Digital wallet app - complete guide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Financial KPIs for digital wallet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Core 5 KPIs of a digital wallet business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Pre-Launch mobile app metrics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  <a:hlinkClick r:id="rId6"/>
              </a:rPr>
              <a:t>Digital wallet app development</a:t>
            </a:r>
            <a:r>
              <a:rPr lang="en-US" sz="10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IN" sz="10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D4713C-932C-1B41-3FBF-666563F12D7C}"/>
              </a:ext>
            </a:extLst>
          </p:cNvPr>
          <p:cNvSpPr/>
          <p:nvPr/>
        </p:nvSpPr>
        <p:spPr>
          <a:xfrm>
            <a:off x="344423" y="1381125"/>
            <a:ext cx="2160000" cy="1440000"/>
          </a:xfrm>
          <a:prstGeom prst="roundRect">
            <a:avLst>
              <a:gd name="adj" fmla="val 892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Activation Rate %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Target ≥ 45%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 of users who download the app and make first transaction</a:t>
            </a:r>
            <a:endParaRPr lang="en-IN" sz="1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6FDDEA-D16C-3EE0-B280-80B20C558695}"/>
              </a:ext>
            </a:extLst>
          </p:cNvPr>
          <p:cNvSpPr/>
          <p:nvPr/>
        </p:nvSpPr>
        <p:spPr>
          <a:xfrm>
            <a:off x="2666423" y="1381125"/>
            <a:ext cx="2160000" cy="1440000"/>
          </a:xfrm>
          <a:prstGeom prst="roundRect">
            <a:avLst>
              <a:gd name="adj" fmla="val 892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Transaction Success Rate %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Target ≥ 95%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No. of successful transactions vs errors/failures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7BEB18-7A04-81E4-8E93-DEFD3DFA037B}"/>
              </a:ext>
            </a:extLst>
          </p:cNvPr>
          <p:cNvSpPr/>
          <p:nvPr/>
        </p:nvSpPr>
        <p:spPr>
          <a:xfrm>
            <a:off x="4988423" y="1381125"/>
            <a:ext cx="2160000" cy="1440000"/>
          </a:xfrm>
          <a:prstGeom prst="roundRect">
            <a:avLst>
              <a:gd name="adj" fmla="val 892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 Acquisition Cost (CAC)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Target 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≤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IDR 45K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otal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expense a business incurs to convince a new customer to buy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2DA9AD-F4DA-C9EF-9DA9-A212C2CC332B}"/>
              </a:ext>
            </a:extLst>
          </p:cNvPr>
          <p:cNvSpPr/>
          <p:nvPr/>
        </p:nvSpPr>
        <p:spPr>
          <a:xfrm>
            <a:off x="7310423" y="1381125"/>
            <a:ext cx="2160000" cy="1440000"/>
          </a:xfrm>
          <a:prstGeom prst="roundRect">
            <a:avLst>
              <a:gd name="adj" fmla="val 892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Retention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Rate 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Target ≥ 55%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% of users who are still active 30 days after their first transaction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C0D98B-3F14-1E63-D2CC-239B537E993D}"/>
              </a:ext>
            </a:extLst>
          </p:cNvPr>
          <p:cNvSpPr/>
          <p:nvPr/>
        </p:nvSpPr>
        <p:spPr>
          <a:xfrm>
            <a:off x="9632424" y="1381125"/>
            <a:ext cx="2160000" cy="1440000"/>
          </a:xfrm>
          <a:prstGeom prst="roundRect">
            <a:avLst>
              <a:gd name="adj" fmla="val 892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Transaction Frequency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Target ≥ 8/month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Average number of transactions per active user per month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B44587-7880-3524-EDD2-42DD83AAF0FC}"/>
              </a:ext>
            </a:extLst>
          </p:cNvPr>
          <p:cNvSpPr txBox="1"/>
          <p:nvPr/>
        </p:nvSpPr>
        <p:spPr>
          <a:xfrm rot="5400000">
            <a:off x="5901641" y="-4533986"/>
            <a:ext cx="321527" cy="11448001"/>
          </a:xfrm>
          <a:prstGeom prst="rect">
            <a:avLst/>
          </a:prstGeom>
          <a:solidFill>
            <a:schemeClr val="accent1"/>
          </a:solidFill>
        </p:spPr>
        <p:txBody>
          <a:bodyPr vert="vert270" wrap="square" lIns="45720" rIns="45720" rtlCol="0" anchor="ctr" anchorCtr="0">
            <a:no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kumimoji="1" lang="en-US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 Key KPIs for First 6 Months</a:t>
            </a:r>
            <a:endParaRPr kumimoji="1" lang="en-IN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FF810E-2D4B-3298-21C0-77D362D04561}"/>
              </a:ext>
            </a:extLst>
          </p:cNvPr>
          <p:cNvSpPr/>
          <p:nvPr/>
        </p:nvSpPr>
        <p:spPr>
          <a:xfrm rot="16200000">
            <a:off x="-1112396" y="4515461"/>
            <a:ext cx="3189600" cy="28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90-Day Launch Roadmap</a:t>
            </a:r>
            <a:endParaRPr lang="en-IN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F809DE-92F8-1AF4-2B7D-14363DD70396}"/>
              </a:ext>
            </a:extLst>
          </p:cNvPr>
          <p:cNvSpPr txBox="1"/>
          <p:nvPr/>
        </p:nvSpPr>
        <p:spPr>
          <a:xfrm>
            <a:off x="674404" y="3117989"/>
            <a:ext cx="3672000" cy="313920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ctr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Days 1-30: Build the Foundation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Get legal, get live, get the first 10,000 users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Get OJK e-money license approved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QRIS integration live—Users can now pay at 30M+ merchants on Day 1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Activate </a:t>
            </a:r>
            <a:r>
              <a:rPr kumimoji="1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Alfamart</a:t>
            </a: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cash top-up at 5,000 outlets—for low-income users &amp; first-time wallet adopters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Soft launch to 10,000 users via e-commerce checkout on Tokopedia/Shopee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</a:t>
            </a: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–QRIS cross-border QR linkage — the SGD↔IDR transfer feature must be working from Day 1.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1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F12B3D-1179-CE7C-6DE4-7BB9CF980A75}"/>
              </a:ext>
            </a:extLst>
          </p:cNvPr>
          <p:cNvSpPr txBox="1"/>
          <p:nvPr/>
        </p:nvSpPr>
        <p:spPr>
          <a:xfrm>
            <a:off x="4394404" y="3117989"/>
            <a:ext cx="3672000" cy="319061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Days 30-60: Habit Formation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Scale to 100,000 users and prove they come back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Open public launch—run co-branded promotions on Shopee/Tokopedia mega-sale events</a:t>
            </a:r>
          </a:p>
          <a:p>
            <a:pPr marL="112713" lvl="0" indent="-112713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1"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Enter</a:t>
            </a: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partnership with </a:t>
            </a:r>
            <a:r>
              <a:rPr kumimoji="1"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telcos—wallet activation, simplify onboarding, bypass KYC processes </a:t>
            </a:r>
            <a:endParaRPr kumimoji="1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Close first 3 corporate partnerships—target Singapore-HQ firms operating in Jakarta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First retention campaign—push notification to users who activated but haven't transacted in 14 days. Offer a 2× cashback on their next </a:t>
            </a:r>
            <a:r>
              <a:rPr kumimoji="1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txn</a:t>
            </a: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.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Security trust campaign—explaining MAS regulated, fraud protection, address </a:t>
            </a:r>
            <a:r>
              <a:rPr kumimoji="1"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kumimoji="1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ain</a:t>
            </a: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point #1 identified earlier.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38B771-E8EE-376A-C5B7-CD16998D942B}"/>
              </a:ext>
            </a:extLst>
          </p:cNvPr>
          <p:cNvSpPr txBox="1"/>
          <p:nvPr/>
        </p:nvSpPr>
        <p:spPr>
          <a:xfrm>
            <a:off x="8114405" y="3117989"/>
            <a:ext cx="3672000" cy="289053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Days 61-90: Own the Use Case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Hit 250,000 users &amp; prove cross-border is the moat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Cross-border feature marketing push—targeted ads to Indonesian users in Singapore and to users with Singapore travel history; highest-ARPU segment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Alfamart</a:t>
            </a: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expanded to full 22,000 outlets—Top-up availability nationwide is now a credibility signal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First KPI review with leadership—</a:t>
            </a:r>
            <a:r>
              <a:rPr kumimoji="1"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track &amp; monitor</a:t>
            </a: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all 5 KPIs against targets. </a:t>
            </a:r>
          </a:p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Merchant onboarding program—identify 500 priority merchants in Jakarta for premium wallet placement and co-marketing.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17A02D-3013-03E2-DF65-E5DF1895AA17}"/>
              </a:ext>
            </a:extLst>
          </p:cNvPr>
          <p:cNvSpPr/>
          <p:nvPr/>
        </p:nvSpPr>
        <p:spPr>
          <a:xfrm>
            <a:off x="668423" y="3064661"/>
            <a:ext cx="3672000" cy="3189600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A0742C-BA45-99F8-D789-25118EAD39B5}"/>
              </a:ext>
            </a:extLst>
          </p:cNvPr>
          <p:cNvSpPr/>
          <p:nvPr/>
        </p:nvSpPr>
        <p:spPr>
          <a:xfrm>
            <a:off x="4394423" y="3070106"/>
            <a:ext cx="3672000" cy="3189600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050B70-7BFD-5420-5375-B38D59318B30}"/>
              </a:ext>
            </a:extLst>
          </p:cNvPr>
          <p:cNvSpPr/>
          <p:nvPr/>
        </p:nvSpPr>
        <p:spPr>
          <a:xfrm>
            <a:off x="8120424" y="3070106"/>
            <a:ext cx="3672000" cy="3189600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1993A4-BE2F-1A5B-1E07-7ED07B93B4A6}"/>
              </a:ext>
            </a:extLst>
          </p:cNvPr>
          <p:cNvSpPr txBox="1"/>
          <p:nvPr/>
        </p:nvSpPr>
        <p:spPr>
          <a:xfrm>
            <a:off x="10658444" y="6565198"/>
            <a:ext cx="15097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i="1" dirty="0">
                <a:latin typeface="Segoe UI" panose="020B0502040204020203" pitchFamily="34" charset="0"/>
                <a:cs typeface="Segoe UI" panose="020B0502040204020203" pitchFamily="34" charset="0"/>
              </a:rPr>
              <a:t>Prepared by – Sachin Garje</a:t>
            </a:r>
            <a:endParaRPr lang="en-IN" sz="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560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4465</TotalTime>
  <Words>2809</Words>
  <Application>Microsoft Office PowerPoint</Application>
  <PresentationFormat>Widescreen</PresentationFormat>
  <Paragraphs>318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Segoe UI</vt:lpstr>
      <vt:lpstr>Segoe UI Black</vt:lpstr>
      <vt:lpstr>Office Theme</vt:lpstr>
      <vt:lpstr>Launching Regional Digital Payments Platform  Background: Your client is a midsize fintech firm headquartered in Singapore. They’ve built a mobile-first digital wallet used by 200,000 users in Singapore, and now want to expand into Indonesia.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Garje</dc:creator>
  <cp:lastModifiedBy>Sachin Garje</cp:lastModifiedBy>
  <cp:revision>95</cp:revision>
  <dcterms:created xsi:type="dcterms:W3CDTF">2026-04-11T06:39:50Z</dcterms:created>
  <dcterms:modified xsi:type="dcterms:W3CDTF">2026-05-04T10:36:14Z</dcterms:modified>
</cp:coreProperties>
</file>